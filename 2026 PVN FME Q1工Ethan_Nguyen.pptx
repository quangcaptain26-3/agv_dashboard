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1280" r:id="rId2"/>
    <p:sldId id="1289" r:id="rId3"/>
    <p:sldId id="1300" r:id="rId4"/>
    <p:sldId id="1290" r:id="rId5"/>
    <p:sldId id="1291" r:id="rId6"/>
    <p:sldId id="1296" r:id="rId7"/>
    <p:sldId id="1292" r:id="rId8"/>
    <p:sldId id="1293" r:id="rId9"/>
    <p:sldId id="1294" r:id="rId10"/>
    <p:sldId id="1298" r:id="rId11"/>
    <p:sldId id="1302" r:id="rId12"/>
    <p:sldId id="1303" r:id="rId13"/>
    <p:sldId id="1301" r:id="rId14"/>
    <p:sldId id="1295" r:id="rId15"/>
    <p:sldId id="1281" r:id="rId1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erence Yang(楊金晶_PSZ)" initials="TY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AD5CC"/>
    <a:srgbClr val="BA996E"/>
    <a:srgbClr val="F3F3F3"/>
    <a:srgbClr val="DAFFA3"/>
    <a:srgbClr val="1BBACB"/>
    <a:srgbClr val="347EB6"/>
    <a:srgbClr val="1AB0C0"/>
    <a:srgbClr val="1CC1D2"/>
    <a:srgbClr val="CEFF85"/>
    <a:srgbClr val="FFA1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08" autoAdjust="0"/>
    <p:restoredTop sz="95090" autoAdjust="0"/>
  </p:normalViewPr>
  <p:slideViewPr>
    <p:cSldViewPr snapToGrid="0">
      <p:cViewPr varScale="1">
        <p:scale>
          <a:sx n="115" d="100"/>
          <a:sy n="115" d="100"/>
        </p:scale>
        <p:origin x="14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TW" altLang="en-US" smtClean="0"/>
              <a:t>2026/3/14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5A681D-2D26-4E30-9E7A-12BA2F7971AE}" type="datetimeFigureOut">
              <a:rPr lang="zh-TW" altLang="en-US" smtClean="0"/>
              <a:t>2026/3/14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BA5AFE-8970-4B57-B423-C596FB58AC0E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C0C0C-18E8-48AF-8451-7EA05F209860}" type="datetimeFigureOut">
              <a:rPr lang="zh-TW" altLang="en-US" smtClean="0"/>
              <a:t>2026/3/14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CB221-A648-4A22-A87C-5883FFE3F868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C0C0C-18E8-48AF-8451-7EA05F209860}" type="datetimeFigureOut">
              <a:rPr lang="zh-TW" altLang="en-US" smtClean="0"/>
              <a:t>2026/3/14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CB221-A648-4A22-A87C-5883FFE3F868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C0C0C-18E8-48AF-8451-7EA05F209860}" type="datetimeFigureOut">
              <a:rPr lang="zh-TW" altLang="en-US" smtClean="0"/>
              <a:t>2026/3/14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CB221-A648-4A22-A87C-5883FFE3F868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C0C0C-18E8-48AF-8451-7EA05F209860}" type="datetimeFigureOut">
              <a:rPr lang="zh-TW" altLang="en-US" smtClean="0"/>
              <a:t>2026/3/14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CB221-A648-4A22-A87C-5883FFE3F868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C0C0C-18E8-48AF-8451-7EA05F209860}" type="datetimeFigureOut">
              <a:rPr lang="zh-TW" altLang="en-US" smtClean="0"/>
              <a:t>2026/3/14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CB221-A648-4A22-A87C-5883FFE3F868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C0C0C-18E8-48AF-8451-7EA05F209860}" type="datetimeFigureOut">
              <a:rPr lang="zh-TW" altLang="en-US" smtClean="0"/>
              <a:t>2026/3/14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CB221-A648-4A22-A87C-5883FFE3F868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C0C0C-18E8-48AF-8451-7EA05F209860}" type="datetimeFigureOut">
              <a:rPr lang="zh-TW" altLang="en-US" smtClean="0"/>
              <a:t>2026/3/14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CB221-A648-4A22-A87C-5883FFE3F868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C0C0C-18E8-48AF-8451-7EA05F209860}" type="datetimeFigureOut">
              <a:rPr lang="zh-TW" altLang="en-US" smtClean="0"/>
              <a:t>2026/3/14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CB221-A648-4A22-A87C-5883FFE3F868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C0C0C-18E8-48AF-8451-7EA05F209860}" type="datetimeFigureOut">
              <a:rPr lang="zh-TW" altLang="en-US" smtClean="0"/>
              <a:t>2026/3/14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CB221-A648-4A22-A87C-5883FFE3F868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C0C0C-18E8-48AF-8451-7EA05F209860}" type="datetimeFigureOut">
              <a:rPr lang="zh-TW" altLang="en-US" smtClean="0"/>
              <a:t>2026/3/14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CB221-A648-4A22-A87C-5883FFE3F868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C0C0C-18E8-48AF-8451-7EA05F209860}" type="datetimeFigureOut">
              <a:rPr lang="zh-TW" altLang="en-US" smtClean="0"/>
              <a:t>2026/3/14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CB221-A648-4A22-A87C-5883FFE3F868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FC0C0C-18E8-48AF-8451-7EA05F209860}" type="datetimeFigureOut">
              <a:rPr lang="zh-TW" altLang="en-US" smtClean="0"/>
              <a:t>2026/3/14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CCB221-A648-4A22-A87C-5883FFE3F868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4518A7B8-1B2B-72F8-8C8F-9A2758B753A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PaintBrush/>
                      </a14:imgEffect>
                      <a14:imgEffect>
                        <a14:brightnessContrast contrast="30000"/>
                      </a14:imgEffect>
                    </a14:imgLayer>
                  </a14:imgProps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手繪多邊形: 圖案 4">
            <a:extLst>
              <a:ext uri="{FF2B5EF4-FFF2-40B4-BE49-F238E27FC236}">
                <a16:creationId xmlns:a16="http://schemas.microsoft.com/office/drawing/2014/main" id="{C1D5E978-FE18-638A-A501-7C2AF87183D7}"/>
              </a:ext>
            </a:extLst>
          </p:cNvPr>
          <p:cNvSpPr/>
          <p:nvPr/>
        </p:nvSpPr>
        <p:spPr>
          <a:xfrm>
            <a:off x="5262880" y="0"/>
            <a:ext cx="6929120" cy="6858000"/>
          </a:xfrm>
          <a:custGeom>
            <a:avLst/>
            <a:gdLst>
              <a:gd name="connsiteX0" fmla="*/ 1099083 w 6878773"/>
              <a:gd name="connsiteY0" fmla="*/ 0 h 6858000"/>
              <a:gd name="connsiteX1" fmla="*/ 1288272 w 6878773"/>
              <a:gd name="connsiteY1" fmla="*/ 0 h 6858000"/>
              <a:gd name="connsiteX2" fmla="*/ 1071041 w 6878773"/>
              <a:gd name="connsiteY2" fmla="*/ 392191 h 6858000"/>
              <a:gd name="connsiteX3" fmla="*/ 689136 w 6878773"/>
              <a:gd name="connsiteY3" fmla="*/ 1280816 h 6858000"/>
              <a:gd name="connsiteX4" fmla="*/ 616541 w 6878773"/>
              <a:gd name="connsiteY4" fmla="*/ 1508694 h 6858000"/>
              <a:gd name="connsiteX5" fmla="*/ 614559 w 6878773"/>
              <a:gd name="connsiteY5" fmla="*/ 1514104 h 6858000"/>
              <a:gd name="connsiteX6" fmla="*/ 607149 w 6878773"/>
              <a:gd name="connsiteY6" fmla="*/ 1538176 h 6858000"/>
              <a:gd name="connsiteX7" fmla="*/ 539073 w 6878773"/>
              <a:gd name="connsiteY7" fmla="*/ 1751870 h 6858000"/>
              <a:gd name="connsiteX8" fmla="*/ 526405 w 6878773"/>
              <a:gd name="connsiteY8" fmla="*/ 1800496 h 6858000"/>
              <a:gd name="connsiteX9" fmla="*/ 607149 w 6878773"/>
              <a:gd name="connsiteY9" fmla="*/ 1538176 h 6858000"/>
              <a:gd name="connsiteX10" fmla="*/ 616541 w 6878773"/>
              <a:gd name="connsiteY10" fmla="*/ 1508694 h 6858000"/>
              <a:gd name="connsiteX11" fmla="*/ 768299 w 6878773"/>
              <a:gd name="connsiteY11" fmla="*/ 1094548 h 6858000"/>
              <a:gd name="connsiteX12" fmla="*/ 1145606 w 6878773"/>
              <a:gd name="connsiteY12" fmla="*/ 304655 h 6858000"/>
              <a:gd name="connsiteX13" fmla="*/ 1329241 w 6878773"/>
              <a:gd name="connsiteY13" fmla="*/ 0 h 6858000"/>
              <a:gd name="connsiteX14" fmla="*/ 6878773 w 6878773"/>
              <a:gd name="connsiteY14" fmla="*/ 0 h 6858000"/>
              <a:gd name="connsiteX15" fmla="*/ 6878773 w 6878773"/>
              <a:gd name="connsiteY15" fmla="*/ 6858000 h 6858000"/>
              <a:gd name="connsiteX16" fmla="*/ 796590 w 6878773"/>
              <a:gd name="connsiteY16" fmla="*/ 6858000 h 6858000"/>
              <a:gd name="connsiteX17" fmla="*/ 705664 w 6878773"/>
              <a:gd name="connsiteY17" fmla="*/ 6624805 h 6858000"/>
              <a:gd name="connsiteX18" fmla="*/ 276668 w 6878773"/>
              <a:gd name="connsiteY18" fmla="*/ 4763158 h 6858000"/>
              <a:gd name="connsiteX19" fmla="*/ 251068 w 6878773"/>
              <a:gd name="connsiteY19" fmla="*/ 4457271 h 6858000"/>
              <a:gd name="connsiteX20" fmla="*/ 252518 w 6878773"/>
              <a:gd name="connsiteY20" fmla="*/ 4492334 h 6858000"/>
              <a:gd name="connsiteX21" fmla="*/ 642791 w 6878773"/>
              <a:gd name="connsiteY21" fmla="*/ 6547897 h 6858000"/>
              <a:gd name="connsiteX22" fmla="*/ 751455 w 6878773"/>
              <a:gd name="connsiteY22" fmla="*/ 6858000 h 6858000"/>
              <a:gd name="connsiteX23" fmla="*/ 568815 w 6878773"/>
              <a:gd name="connsiteY23" fmla="*/ 6858000 h 6858000"/>
              <a:gd name="connsiteX24" fmla="*/ 520545 w 6878773"/>
              <a:gd name="connsiteY24" fmla="*/ 6743200 h 6858000"/>
              <a:gd name="connsiteX25" fmla="*/ 0 w 6878773"/>
              <a:gd name="connsiteY25" fmla="*/ 3931920 h 6858000"/>
              <a:gd name="connsiteX26" fmla="*/ 984860 w 6878773"/>
              <a:gd name="connsiteY26" fmla="*/ 18032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6878773" h="6858000">
                <a:moveTo>
                  <a:pt x="1099083" y="0"/>
                </a:moveTo>
                <a:lnTo>
                  <a:pt x="1288272" y="0"/>
                </a:lnTo>
                <a:lnTo>
                  <a:pt x="1071041" y="392191"/>
                </a:lnTo>
                <a:cubicBezTo>
                  <a:pt x="926325" y="675478"/>
                  <a:pt x="798518" y="972377"/>
                  <a:pt x="689136" y="1280816"/>
                </a:cubicBezTo>
                <a:lnTo>
                  <a:pt x="616541" y="1508694"/>
                </a:lnTo>
                <a:lnTo>
                  <a:pt x="614559" y="1514104"/>
                </a:lnTo>
                <a:lnTo>
                  <a:pt x="607149" y="1538176"/>
                </a:lnTo>
                <a:lnTo>
                  <a:pt x="539073" y="1751870"/>
                </a:lnTo>
                <a:lnTo>
                  <a:pt x="526405" y="1800496"/>
                </a:lnTo>
                <a:lnTo>
                  <a:pt x="607149" y="1538176"/>
                </a:lnTo>
                <a:lnTo>
                  <a:pt x="616541" y="1508694"/>
                </a:lnTo>
                <a:lnTo>
                  <a:pt x="768299" y="1094548"/>
                </a:lnTo>
                <a:cubicBezTo>
                  <a:pt x="878763" y="820024"/>
                  <a:pt x="1004957" y="556147"/>
                  <a:pt x="1145606" y="304655"/>
                </a:cubicBezTo>
                <a:lnTo>
                  <a:pt x="1329241" y="0"/>
                </a:lnTo>
                <a:lnTo>
                  <a:pt x="6878773" y="0"/>
                </a:lnTo>
                <a:lnTo>
                  <a:pt x="6878773" y="6858000"/>
                </a:lnTo>
                <a:lnTo>
                  <a:pt x="796590" y="6858000"/>
                </a:lnTo>
                <a:lnTo>
                  <a:pt x="705664" y="6624805"/>
                </a:lnTo>
                <a:cubicBezTo>
                  <a:pt x="492576" y="6043076"/>
                  <a:pt x="345499" y="5418219"/>
                  <a:pt x="276668" y="4763158"/>
                </a:cubicBezTo>
                <a:lnTo>
                  <a:pt x="251068" y="4457271"/>
                </a:lnTo>
                <a:lnTo>
                  <a:pt x="252518" y="4492334"/>
                </a:lnTo>
                <a:cubicBezTo>
                  <a:pt x="297587" y="5213820"/>
                  <a:pt x="432380" y="5903988"/>
                  <a:pt x="642791" y="6547897"/>
                </a:cubicBezTo>
                <a:lnTo>
                  <a:pt x="751455" y="6858000"/>
                </a:lnTo>
                <a:lnTo>
                  <a:pt x="568815" y="6858000"/>
                </a:lnTo>
                <a:lnTo>
                  <a:pt x="520545" y="6743200"/>
                </a:lnTo>
                <a:cubicBezTo>
                  <a:pt x="188569" y="5907510"/>
                  <a:pt x="0" y="4949829"/>
                  <a:pt x="0" y="3931920"/>
                </a:cubicBezTo>
                <a:cubicBezTo>
                  <a:pt x="0" y="2506847"/>
                  <a:pt x="369597" y="1199822"/>
                  <a:pt x="984860" y="180321"/>
                </a:cubicBez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4B2CDC77-8F79-FB60-ED20-78B18BF125ED}"/>
              </a:ext>
            </a:extLst>
          </p:cNvPr>
          <p:cNvSpPr txBox="1"/>
          <p:nvPr/>
        </p:nvSpPr>
        <p:spPr>
          <a:xfrm>
            <a:off x="321934" y="4841728"/>
            <a:ext cx="8302787" cy="193899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 anchor="t">
            <a:spAutoFit/>
          </a:bodyPr>
          <a:lstStyle/>
          <a:p>
            <a:pPr algn="just">
              <a:spcBef>
                <a:spcPts val="600"/>
              </a:spcBef>
              <a:buClrTx/>
              <a:buSzTx/>
              <a:buNone/>
            </a:pPr>
            <a:r>
              <a:rPr lang="en-US" altLang="zh-TW" sz="3600" b="1" dirty="0" smtClean="0">
                <a:solidFill>
                  <a:srgbClr val="002060"/>
                </a:solidFill>
                <a:effectLst>
                  <a:outerShdw blurRad="50800" dist="38100" dir="10800000" algn="r" rotWithShape="0">
                    <a:schemeClr val="bg1">
                      <a:lumMod val="85000"/>
                      <a:alpha val="70000"/>
                    </a:scheme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pitchFamily="34" charset="-120"/>
                <a:sym typeface="+mn-ea"/>
              </a:rPr>
              <a:t>2026 </a:t>
            </a:r>
            <a:r>
              <a:rPr lang="en-US" altLang="zh-TW" sz="3600" b="1" dirty="0">
                <a:solidFill>
                  <a:srgbClr val="002060"/>
                </a:solidFill>
                <a:effectLst>
                  <a:outerShdw blurRad="50800" dist="38100" dir="10800000" algn="r" rotWithShape="0">
                    <a:schemeClr val="bg1">
                      <a:lumMod val="85000"/>
                      <a:alpha val="70000"/>
                    </a:scheme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pitchFamily="34" charset="-120"/>
                <a:sym typeface="+mn-ea"/>
              </a:rPr>
              <a:t>PVN FME </a:t>
            </a:r>
            <a:r>
              <a:rPr lang="en-US" altLang="zh-TW" sz="3600" b="1" dirty="0" smtClean="0">
                <a:solidFill>
                  <a:srgbClr val="002060"/>
                </a:solidFill>
                <a:effectLst>
                  <a:outerShdw blurRad="50800" dist="38100" dir="10800000" algn="r" rotWithShape="0">
                    <a:schemeClr val="bg1">
                      <a:lumMod val="85000"/>
                      <a:alpha val="70000"/>
                    </a:scheme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pitchFamily="34" charset="-120"/>
                <a:sym typeface="+mn-ea"/>
              </a:rPr>
              <a:t>Q1</a:t>
            </a:r>
            <a:r>
              <a:rPr lang="zh-TW" altLang="en-US" sz="3600" b="1" dirty="0" smtClean="0">
                <a:solidFill>
                  <a:srgbClr val="002060"/>
                </a:solidFill>
                <a:effectLst>
                  <a:outerShdw blurRad="50800" dist="38100" dir="10800000" algn="r" rotWithShape="0">
                    <a:schemeClr val="bg1">
                      <a:lumMod val="85000"/>
                      <a:alpha val="70000"/>
                    </a:scheme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pitchFamily="34" charset="-120"/>
                <a:sym typeface="+mn-ea"/>
              </a:rPr>
              <a:t>工作</a:t>
            </a:r>
            <a:r>
              <a:rPr lang="zh-TW" altLang="en-US" sz="3600" b="1" dirty="0">
                <a:solidFill>
                  <a:srgbClr val="002060"/>
                </a:solidFill>
                <a:effectLst>
                  <a:outerShdw blurRad="50800" dist="38100" dir="10800000" algn="r" rotWithShape="0">
                    <a:schemeClr val="bg1">
                      <a:lumMod val="85000"/>
                      <a:alpha val="70000"/>
                    </a:scheme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pitchFamily="34" charset="-120"/>
                <a:sym typeface="+mn-ea"/>
              </a:rPr>
              <a:t>報告</a:t>
            </a:r>
            <a:endParaRPr lang="en-US" altLang="zh-TW" sz="3600" b="1" dirty="0">
              <a:solidFill>
                <a:srgbClr val="002060"/>
              </a:solidFill>
              <a:effectLst>
                <a:outerShdw blurRad="50800" dist="38100" dir="10800000" algn="r" rotWithShape="0">
                  <a:schemeClr val="bg1">
                    <a:lumMod val="85000"/>
                    <a:alpha val="70000"/>
                  </a:scheme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微軟正黑體" panose="020B0604030504040204" pitchFamily="34" charset="-120"/>
              <a:sym typeface="+mn-ea"/>
            </a:endParaRPr>
          </a:p>
          <a:p>
            <a:pPr algn="just">
              <a:spcBef>
                <a:spcPts val="600"/>
              </a:spcBef>
            </a:pPr>
            <a:r>
              <a:rPr lang="en-US" altLang="zh-TW" sz="1600" b="1" dirty="0" err="1">
                <a:solidFill>
                  <a:srgbClr val="002060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charset="-120"/>
                <a:sym typeface="+mn-ea"/>
              </a:rPr>
              <a:t>部門</a:t>
            </a:r>
            <a:r>
              <a:rPr lang="en-US" altLang="zh-TW" sz="1600" b="1" dirty="0" smtClean="0">
                <a:solidFill>
                  <a:srgbClr val="002060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charset="-120"/>
                <a:sym typeface="+mn-ea"/>
              </a:rPr>
              <a:t>:</a:t>
            </a:r>
            <a:r>
              <a:rPr lang="zh-TW" altLang="en-US" sz="1600" b="1" dirty="0" smtClean="0">
                <a:solidFill>
                  <a:srgbClr val="002060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charset="-120"/>
                <a:sym typeface="+mn-ea"/>
              </a:rPr>
              <a:t> </a:t>
            </a:r>
            <a:r>
              <a:rPr lang="en-US" altLang="zh-TW" sz="1600" b="1" dirty="0" smtClean="0">
                <a:solidFill>
                  <a:srgbClr val="002060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charset="-120"/>
                <a:sym typeface="+mn-ea"/>
              </a:rPr>
              <a:t>(</a:t>
            </a:r>
            <a:r>
              <a:rPr lang="en-US" altLang="zh-TW" sz="1600" b="1" dirty="0">
                <a:solidFill>
                  <a:srgbClr val="002060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charset="-120"/>
                <a:sym typeface="+mn-ea"/>
              </a:rPr>
              <a:t>PVN)</a:t>
            </a:r>
            <a:r>
              <a:rPr lang="zh-TW" altLang="en-US" sz="1600" b="1" dirty="0">
                <a:solidFill>
                  <a:srgbClr val="002060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charset="-120"/>
                <a:sym typeface="+mn-ea"/>
              </a:rPr>
              <a:t>第六事業群</a:t>
            </a:r>
            <a:r>
              <a:rPr lang="en-US" altLang="zh-TW" sz="1600" b="1" dirty="0">
                <a:solidFill>
                  <a:srgbClr val="002060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charset="-120"/>
                <a:sym typeface="+mn-ea"/>
              </a:rPr>
              <a:t>-</a:t>
            </a:r>
            <a:r>
              <a:rPr lang="zh-TW" altLang="en-US" sz="1600" b="1" dirty="0">
                <a:solidFill>
                  <a:srgbClr val="002060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charset="-120"/>
                <a:sym typeface="+mn-ea"/>
              </a:rPr>
              <a:t>製造及營運管理中心</a:t>
            </a:r>
            <a:r>
              <a:rPr lang="en-US" altLang="zh-TW" sz="1600" b="1" dirty="0">
                <a:solidFill>
                  <a:srgbClr val="002060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charset="-120"/>
                <a:sym typeface="+mn-ea"/>
              </a:rPr>
              <a:t>-</a:t>
            </a:r>
            <a:r>
              <a:rPr lang="zh-TW" altLang="en-US" sz="1600" b="1" dirty="0">
                <a:solidFill>
                  <a:srgbClr val="002060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charset="-120"/>
                <a:sym typeface="+mn-ea"/>
              </a:rPr>
              <a:t>越南製造處</a:t>
            </a:r>
            <a:r>
              <a:rPr lang="en-US" altLang="zh-TW" sz="1600" b="1" dirty="0">
                <a:solidFill>
                  <a:srgbClr val="002060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charset="-120"/>
                <a:sym typeface="+mn-ea"/>
              </a:rPr>
              <a:t>-PVN1</a:t>
            </a:r>
            <a:r>
              <a:rPr lang="zh-TW" altLang="en-US" sz="1600" b="1" dirty="0">
                <a:solidFill>
                  <a:srgbClr val="002060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charset="-120"/>
                <a:sym typeface="+mn-ea"/>
              </a:rPr>
              <a:t>廠</a:t>
            </a:r>
            <a:r>
              <a:rPr lang="en-US" altLang="zh-TW" sz="1600" b="1" dirty="0">
                <a:solidFill>
                  <a:srgbClr val="002060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charset="-120"/>
                <a:sym typeface="+mn-ea"/>
              </a:rPr>
              <a:t>-FME</a:t>
            </a:r>
            <a:r>
              <a:rPr lang="zh-TW" altLang="en-US" sz="1600" b="1" dirty="0" smtClean="0">
                <a:solidFill>
                  <a:srgbClr val="002060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charset="-120"/>
                <a:sym typeface="+mn-ea"/>
              </a:rPr>
              <a:t>部</a:t>
            </a:r>
            <a:r>
              <a:rPr lang="en-US" altLang="zh-TW" sz="1600" b="1" dirty="0" smtClean="0">
                <a:solidFill>
                  <a:srgbClr val="002060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charset="-120"/>
                <a:sym typeface="+mn-ea"/>
              </a:rPr>
              <a:t>-</a:t>
            </a:r>
            <a:r>
              <a:rPr lang="zh-TW" altLang="en-US" sz="1600" b="1" dirty="0" smtClean="0">
                <a:solidFill>
                  <a:srgbClr val="002060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charset="-120"/>
                <a:sym typeface="+mn-ea"/>
              </a:rPr>
              <a:t>自動化課</a:t>
            </a:r>
            <a:endParaRPr lang="en-US" altLang="zh-TW" sz="1600" b="1" dirty="0">
              <a:solidFill>
                <a:srgbClr val="002060"/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微軟正黑體" panose="020B0604030504040204" charset="-120"/>
              <a:sym typeface="+mn-ea"/>
            </a:endParaRPr>
          </a:p>
          <a:p>
            <a:pPr algn="just">
              <a:spcBef>
                <a:spcPts val="600"/>
              </a:spcBef>
            </a:pPr>
            <a:r>
              <a:rPr lang="en-US" altLang="zh-TW" sz="1600" b="1" dirty="0" err="1">
                <a:solidFill>
                  <a:srgbClr val="002060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charset="-120"/>
                <a:sym typeface="+mn-ea"/>
              </a:rPr>
              <a:t>姓名</a:t>
            </a:r>
            <a:r>
              <a:rPr lang="en-US" altLang="zh-TW" sz="1600" b="1" dirty="0" smtClean="0">
                <a:solidFill>
                  <a:srgbClr val="002060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charset="-120"/>
                <a:sym typeface="+mn-ea"/>
              </a:rPr>
              <a:t>: Ethan Nguyen</a:t>
            </a:r>
          </a:p>
          <a:p>
            <a:pPr algn="just">
              <a:spcBef>
                <a:spcPts val="600"/>
              </a:spcBef>
            </a:pPr>
            <a:r>
              <a:rPr lang="zh-TW" altLang="en-US" sz="1600" b="1" dirty="0" smtClean="0">
                <a:solidFill>
                  <a:srgbClr val="002060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charset="-120"/>
                <a:sym typeface="+mn-ea"/>
              </a:rPr>
              <a:t>職</a:t>
            </a:r>
            <a:r>
              <a:rPr lang="zh-TW" altLang="en-US" sz="1600" b="1" dirty="0">
                <a:solidFill>
                  <a:srgbClr val="002060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charset="-120"/>
                <a:sym typeface="+mn-ea"/>
              </a:rPr>
              <a:t>等</a:t>
            </a:r>
            <a:r>
              <a:rPr lang="en-US" altLang="zh-TW" sz="1600" b="1" dirty="0">
                <a:solidFill>
                  <a:srgbClr val="002060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charset="-120"/>
                <a:sym typeface="+mn-ea"/>
              </a:rPr>
              <a:t>: </a:t>
            </a:r>
            <a:r>
              <a:rPr lang="en-US" altLang="zh-TW" sz="1600" b="1" dirty="0" smtClean="0">
                <a:solidFill>
                  <a:srgbClr val="002060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charset="-120"/>
                <a:sym typeface="+mn-ea"/>
              </a:rPr>
              <a:t>19</a:t>
            </a:r>
            <a:r>
              <a:rPr lang="en-US" altLang="zh-TW" sz="1600" b="1" dirty="0">
                <a:solidFill>
                  <a:srgbClr val="002060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charset="-120"/>
                <a:sym typeface="+mn-ea"/>
              </a:rPr>
              <a:t>	</a:t>
            </a:r>
            <a:endParaRPr lang="en-US" altLang="zh-TW" sz="1600" b="1" dirty="0">
              <a:solidFill>
                <a:srgbClr val="002060"/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微軟正黑體" panose="020B0604030504040204" charset="-120"/>
            </a:endParaRPr>
          </a:p>
          <a:p>
            <a:pPr algn="just">
              <a:spcBef>
                <a:spcPts val="600"/>
              </a:spcBef>
              <a:buClrTx/>
              <a:buSzTx/>
              <a:buNone/>
            </a:pPr>
            <a:r>
              <a:rPr lang="en-US" altLang="zh-TW" sz="1600" b="1" dirty="0" err="1">
                <a:solidFill>
                  <a:srgbClr val="002060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charset="-120"/>
                <a:sym typeface="+mn-ea"/>
              </a:rPr>
              <a:t>日期</a:t>
            </a:r>
            <a:r>
              <a:rPr lang="en-US" altLang="zh-TW" sz="1600" b="1" dirty="0">
                <a:solidFill>
                  <a:srgbClr val="002060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charset="-120"/>
                <a:sym typeface="+mn-ea"/>
              </a:rPr>
              <a:t>: </a:t>
            </a:r>
            <a:r>
              <a:rPr lang="en-US" altLang="zh-TW" sz="1600" b="1" dirty="0" smtClean="0">
                <a:solidFill>
                  <a:srgbClr val="002060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charset="-120"/>
                <a:sym typeface="+mn-ea"/>
              </a:rPr>
              <a:t>2026/03/15</a:t>
            </a:r>
            <a:endParaRPr lang="en-US" altLang="zh-TW" sz="1600" b="1" dirty="0">
              <a:solidFill>
                <a:srgbClr val="002060"/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微軟正黑體" panose="020B0604030504040204" charset="-120"/>
              <a:sym typeface="+mn-ea"/>
            </a:endParaRPr>
          </a:p>
        </p:txBody>
      </p:sp>
      <p:grpSp>
        <p:nvGrpSpPr>
          <p:cNvPr id="7" name="群組 6">
            <a:extLst>
              <a:ext uri="{FF2B5EF4-FFF2-40B4-BE49-F238E27FC236}">
                <a16:creationId xmlns:a16="http://schemas.microsoft.com/office/drawing/2014/main" id="{112B3D19-5153-353B-424F-8F0D7993982B}"/>
              </a:ext>
            </a:extLst>
          </p:cNvPr>
          <p:cNvGrpSpPr/>
          <p:nvPr/>
        </p:nvGrpSpPr>
        <p:grpSpPr>
          <a:xfrm>
            <a:off x="494654" y="4117202"/>
            <a:ext cx="3293433" cy="637493"/>
            <a:chOff x="637703" y="2936783"/>
            <a:chExt cx="3293433" cy="637493"/>
          </a:xfrm>
        </p:grpSpPr>
        <p:pic>
          <p:nvPicPr>
            <p:cNvPr id="8" name="Picture 6">
              <a:extLst>
                <a:ext uri="{FF2B5EF4-FFF2-40B4-BE49-F238E27FC236}">
                  <a16:creationId xmlns:a16="http://schemas.microsoft.com/office/drawing/2014/main" id="{AD0040CB-21DA-C482-2A41-8A79356C4023}"/>
                </a:ext>
              </a:extLst>
            </p:cNvPr>
            <p:cNvPicPr/>
            <p:nvPr/>
          </p:nvPicPr>
          <p:blipFill>
            <a:blip r:embed="rId5">
              <a:lum bright="-20001"/>
            </a:blip>
            <a:stretch>
              <a:fillRect/>
            </a:stretch>
          </p:blipFill>
          <p:spPr>
            <a:xfrm>
              <a:off x="637703" y="3020610"/>
              <a:ext cx="2063612" cy="553666"/>
            </a:xfrm>
            <a:prstGeom prst="rect">
              <a:avLst/>
            </a:prstGeom>
            <a:noFill/>
            <a:ln w="9525">
              <a:noFill/>
            </a:ln>
          </p:spPr>
        </p:pic>
        <p:grpSp>
          <p:nvGrpSpPr>
            <p:cNvPr id="9" name="群組 8">
              <a:extLst>
                <a:ext uri="{FF2B5EF4-FFF2-40B4-BE49-F238E27FC236}">
                  <a16:creationId xmlns:a16="http://schemas.microsoft.com/office/drawing/2014/main" id="{14C72E3B-8C67-EB76-D350-68FD31CC333A}"/>
                </a:ext>
              </a:extLst>
            </p:cNvPr>
            <p:cNvGrpSpPr/>
            <p:nvPr/>
          </p:nvGrpSpPr>
          <p:grpSpPr>
            <a:xfrm>
              <a:off x="2892449" y="2936783"/>
              <a:ext cx="1038687" cy="588751"/>
              <a:chOff x="1782913" y="2529000"/>
              <a:chExt cx="3121573" cy="1800000"/>
            </a:xfrm>
          </p:grpSpPr>
          <p:sp>
            <p:nvSpPr>
              <p:cNvPr id="10" name="圆角矩形 15">
                <a:extLst>
                  <a:ext uri="{FF2B5EF4-FFF2-40B4-BE49-F238E27FC236}">
                    <a16:creationId xmlns:a16="http://schemas.microsoft.com/office/drawing/2014/main" id="{A8AF72AA-3B3A-5ACD-D50E-22A378408615}"/>
                  </a:ext>
                </a:extLst>
              </p:cNvPr>
              <p:cNvSpPr/>
              <p:nvPr/>
            </p:nvSpPr>
            <p:spPr>
              <a:xfrm rot="2700000">
                <a:off x="1857839" y="2529000"/>
                <a:ext cx="1800000" cy="1800000"/>
              </a:xfrm>
              <a:prstGeom prst="roundRect">
                <a:avLst/>
              </a:prstGeom>
              <a:solidFill>
                <a:srgbClr val="34B2E4"/>
              </a:solidFill>
              <a:ln>
                <a:noFill/>
              </a:ln>
              <a:effectLst>
                <a:outerShdw blurRad="127000" algn="ctr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  <a:cs typeface="+mn-ea"/>
                  <a:sym typeface="+mn-lt"/>
                </a:endParaRPr>
              </a:p>
            </p:txBody>
          </p:sp>
          <p:sp>
            <p:nvSpPr>
              <p:cNvPr id="11" name="圆角矩形 16">
                <a:extLst>
                  <a:ext uri="{FF2B5EF4-FFF2-40B4-BE49-F238E27FC236}">
                    <a16:creationId xmlns:a16="http://schemas.microsoft.com/office/drawing/2014/main" id="{D74BAA0C-C50E-20F8-BE6E-E171E1D937C4}"/>
                  </a:ext>
                </a:extLst>
              </p:cNvPr>
              <p:cNvSpPr/>
              <p:nvPr/>
            </p:nvSpPr>
            <p:spPr>
              <a:xfrm rot="2700000">
                <a:off x="1782913" y="2529000"/>
                <a:ext cx="1800000" cy="1800000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190500" algn="ctr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  <a:cs typeface="+mn-ea"/>
                  <a:sym typeface="+mn-lt"/>
                </a:endParaRPr>
              </a:p>
            </p:txBody>
          </p:sp>
          <p:pic>
            <p:nvPicPr>
              <p:cNvPr id="12" name="圖片 11" descr="一張含有 文字, 輪子, 美工圖案, 齒輪 的圖片&#10;&#10;自動產生的描述">
                <a:extLst>
                  <a:ext uri="{FF2B5EF4-FFF2-40B4-BE49-F238E27FC236}">
                    <a16:creationId xmlns:a16="http://schemas.microsoft.com/office/drawing/2014/main" id="{6E8EBEE9-EBC9-8914-6C1F-E45E1570D000}"/>
                  </a:ext>
                </a:extLst>
              </p:cNvPr>
              <p:cNvPicPr/>
              <p:nvPr/>
            </p:nvPicPr>
            <p:blipFill rotWithShape="1">
              <a:blip r:embed="rId6" cstate="print">
                <a:grayscl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3898"/>
              <a:stretch>
                <a:fillRect/>
              </a:stretch>
            </p:blipFill>
            <p:spPr>
              <a:xfrm rot="5400000">
                <a:off x="3709806" y="2875160"/>
                <a:ext cx="1281679" cy="1107680"/>
              </a:xfrm>
              <a:prstGeom prst="rect">
                <a:avLst/>
              </a:prstGeom>
            </p:spPr>
          </p:pic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C8390711-3383-6DA3-F533-8A28FE5DF6F8}"/>
                  </a:ext>
                </a:extLst>
              </p:cNvPr>
              <p:cNvSpPr/>
              <p:nvPr/>
            </p:nvSpPr>
            <p:spPr>
              <a:xfrm>
                <a:off x="1831379" y="2819459"/>
                <a:ext cx="1703069" cy="13375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TW" sz="11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A4A4A4"/>
                    </a:solidFill>
                    <a:effectLst/>
                    <a:uLnTx/>
                    <a:uFillTx/>
                    <a:latin typeface="DengXian" panose="02010600030101010101" pitchFamily="2" charset="-122"/>
                    <a:ea typeface="DengXian" panose="02010600030101010101" pitchFamily="2" charset="-122"/>
                  </a:rPr>
                  <a:t>BG6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TW" sz="1100" b="1" dirty="0">
                    <a:solidFill>
                      <a:srgbClr val="A4A4A4"/>
                    </a:solidFill>
                    <a:latin typeface="DengXian" panose="02010600030101010101" pitchFamily="2" charset="-122"/>
                    <a:ea typeface="DengXian" panose="02010600030101010101" pitchFamily="2" charset="-122"/>
                  </a:rPr>
                  <a:t>PVN</a:t>
                </a:r>
                <a:endParaRPr kumimoji="0" lang="en-US" altLang="zh-TW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A4A4A4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</a:endParaRPr>
              </a:p>
            </p:txBody>
          </p:sp>
        </p:grpSp>
      </p:grpSp>
      <p:grpSp>
        <p:nvGrpSpPr>
          <p:cNvPr id="2" name="群組 1">
            <a:extLst>
              <a:ext uri="{FF2B5EF4-FFF2-40B4-BE49-F238E27FC236}">
                <a16:creationId xmlns:a16="http://schemas.microsoft.com/office/drawing/2014/main" id="{FD9FE76B-49B7-122B-0173-0FC9E984D589}"/>
              </a:ext>
            </a:extLst>
          </p:cNvPr>
          <p:cNvGrpSpPr/>
          <p:nvPr/>
        </p:nvGrpSpPr>
        <p:grpSpPr>
          <a:xfrm>
            <a:off x="11145334" y="6021230"/>
            <a:ext cx="1058632" cy="775686"/>
            <a:chOff x="1633100" y="4132365"/>
            <a:chExt cx="419208" cy="307164"/>
          </a:xfrm>
        </p:grpSpPr>
        <p:sp>
          <p:nvSpPr>
            <p:cNvPr id="3" name="Oval 21">
              <a:extLst>
                <a:ext uri="{FF2B5EF4-FFF2-40B4-BE49-F238E27FC236}">
                  <a16:creationId xmlns:a16="http://schemas.microsoft.com/office/drawing/2014/main" id="{08753D7E-9C76-5745-271E-3279677D49DD}"/>
                </a:ext>
              </a:extLst>
            </p:cNvPr>
            <p:cNvSpPr/>
            <p:nvPr/>
          </p:nvSpPr>
          <p:spPr>
            <a:xfrm rot="20111049">
              <a:off x="1633100" y="4132365"/>
              <a:ext cx="301450" cy="254502"/>
            </a:xfrm>
            <a:custGeom>
              <a:avLst/>
              <a:gdLst/>
              <a:ahLst/>
              <a:cxnLst/>
              <a:rect l="l" t="t" r="r" b="b"/>
              <a:pathLst>
                <a:path w="4088377" h="3321003">
                  <a:moveTo>
                    <a:pt x="1365628" y="1622218"/>
                  </a:moveTo>
                  <a:cubicBezTo>
                    <a:pt x="1121373" y="1556771"/>
                    <a:pt x="870309" y="1701722"/>
                    <a:pt x="804861" y="1945977"/>
                  </a:cubicBezTo>
                  <a:cubicBezTo>
                    <a:pt x="739413" y="2190232"/>
                    <a:pt x="884365" y="2441296"/>
                    <a:pt x="1128620" y="2506744"/>
                  </a:cubicBezTo>
                  <a:cubicBezTo>
                    <a:pt x="1372875" y="2572191"/>
                    <a:pt x="1623939" y="2427240"/>
                    <a:pt x="1689387" y="2182985"/>
                  </a:cubicBezTo>
                  <a:cubicBezTo>
                    <a:pt x="1754835" y="1938730"/>
                    <a:pt x="1609883" y="1687666"/>
                    <a:pt x="1365628" y="1622218"/>
                  </a:cubicBezTo>
                  <a:close/>
                  <a:moveTo>
                    <a:pt x="1447099" y="1318163"/>
                  </a:moveTo>
                  <a:cubicBezTo>
                    <a:pt x="1859279" y="1428606"/>
                    <a:pt x="2103885" y="1852277"/>
                    <a:pt x="1993442" y="2264456"/>
                  </a:cubicBezTo>
                  <a:cubicBezTo>
                    <a:pt x="1882999" y="2676636"/>
                    <a:pt x="1459328" y="2921242"/>
                    <a:pt x="1047149" y="2810799"/>
                  </a:cubicBezTo>
                  <a:cubicBezTo>
                    <a:pt x="634969" y="2700356"/>
                    <a:pt x="390363" y="2276685"/>
                    <a:pt x="500806" y="1864505"/>
                  </a:cubicBezTo>
                  <a:cubicBezTo>
                    <a:pt x="611249" y="1452326"/>
                    <a:pt x="1034920" y="1207720"/>
                    <a:pt x="1447099" y="1318163"/>
                  </a:cubicBezTo>
                  <a:close/>
                  <a:moveTo>
                    <a:pt x="1476725" y="1207597"/>
                  </a:moveTo>
                  <a:cubicBezTo>
                    <a:pt x="1003481" y="1080792"/>
                    <a:pt x="517045" y="1361635"/>
                    <a:pt x="390240" y="1834879"/>
                  </a:cubicBezTo>
                  <a:cubicBezTo>
                    <a:pt x="263435" y="2308124"/>
                    <a:pt x="544279" y="2794559"/>
                    <a:pt x="1017523" y="2921365"/>
                  </a:cubicBezTo>
                  <a:cubicBezTo>
                    <a:pt x="1490767" y="3048170"/>
                    <a:pt x="1977202" y="2767326"/>
                    <a:pt x="2104008" y="2294082"/>
                  </a:cubicBezTo>
                  <a:cubicBezTo>
                    <a:pt x="2230813" y="1820838"/>
                    <a:pt x="1949969" y="1334403"/>
                    <a:pt x="1476725" y="1207597"/>
                  </a:cubicBezTo>
                  <a:close/>
                  <a:moveTo>
                    <a:pt x="3290290" y="1590224"/>
                  </a:moveTo>
                  <a:cubicBezTo>
                    <a:pt x="3269727" y="1586016"/>
                    <a:pt x="3248437" y="1583806"/>
                    <a:pt x="3226630" y="1583806"/>
                  </a:cubicBezTo>
                  <a:cubicBezTo>
                    <a:pt x="3052179" y="1583806"/>
                    <a:pt x="2910758" y="1725227"/>
                    <a:pt x="2910758" y="1899678"/>
                  </a:cubicBezTo>
                  <a:cubicBezTo>
                    <a:pt x="2910758" y="2074130"/>
                    <a:pt x="3052179" y="2215551"/>
                    <a:pt x="3226630" y="2215550"/>
                  </a:cubicBezTo>
                  <a:cubicBezTo>
                    <a:pt x="3401082" y="2215551"/>
                    <a:pt x="3542503" y="2074130"/>
                    <a:pt x="3542502" y="1899678"/>
                  </a:cubicBezTo>
                  <a:cubicBezTo>
                    <a:pt x="3542503" y="1747033"/>
                    <a:pt x="3434228" y="1619677"/>
                    <a:pt x="3290290" y="1590224"/>
                  </a:cubicBezTo>
                  <a:close/>
                  <a:moveTo>
                    <a:pt x="3334055" y="1377473"/>
                  </a:moveTo>
                  <a:cubicBezTo>
                    <a:pt x="3576950" y="1427177"/>
                    <a:pt x="3759665" y="1642090"/>
                    <a:pt x="3759665" y="1899678"/>
                  </a:cubicBezTo>
                  <a:cubicBezTo>
                    <a:pt x="3759665" y="2194064"/>
                    <a:pt x="3521017" y="2432713"/>
                    <a:pt x="3226630" y="2432713"/>
                  </a:cubicBezTo>
                  <a:cubicBezTo>
                    <a:pt x="2932244" y="2432712"/>
                    <a:pt x="2693596" y="2194065"/>
                    <a:pt x="2693596" y="1899678"/>
                  </a:cubicBezTo>
                  <a:cubicBezTo>
                    <a:pt x="2693596" y="1605292"/>
                    <a:pt x="2932244" y="1366644"/>
                    <a:pt x="3226630" y="1366644"/>
                  </a:cubicBezTo>
                  <a:cubicBezTo>
                    <a:pt x="3263429" y="1366644"/>
                    <a:pt x="3299356" y="1370373"/>
                    <a:pt x="3334055" y="1377473"/>
                  </a:cubicBezTo>
                  <a:close/>
                  <a:moveTo>
                    <a:pt x="1391137" y="789478"/>
                  </a:moveTo>
                  <a:lnTo>
                    <a:pt x="1759910" y="888290"/>
                  </a:lnTo>
                  <a:lnTo>
                    <a:pt x="1754625" y="1202375"/>
                  </a:lnTo>
                  <a:lnTo>
                    <a:pt x="1744979" y="1199790"/>
                  </a:lnTo>
                  <a:cubicBezTo>
                    <a:pt x="1823578" y="1244024"/>
                    <a:pt x="1894617" y="1298265"/>
                    <a:pt x="1954704" y="1362586"/>
                  </a:cubicBezTo>
                  <a:lnTo>
                    <a:pt x="2234317" y="1293059"/>
                  </a:lnTo>
                  <a:lnTo>
                    <a:pt x="2413554" y="1630152"/>
                  </a:lnTo>
                  <a:lnTo>
                    <a:pt x="2214321" y="1809770"/>
                  </a:lnTo>
                  <a:cubicBezTo>
                    <a:pt x="2239296" y="1900740"/>
                    <a:pt x="2251067" y="1995997"/>
                    <a:pt x="2246841" y="2092825"/>
                  </a:cubicBezTo>
                  <a:lnTo>
                    <a:pt x="2495698" y="2230974"/>
                  </a:lnTo>
                  <a:lnTo>
                    <a:pt x="2396885" y="2599747"/>
                  </a:lnTo>
                  <a:lnTo>
                    <a:pt x="2094912" y="2594668"/>
                  </a:lnTo>
                  <a:cubicBezTo>
                    <a:pt x="2056732" y="2658461"/>
                    <a:pt x="2010475" y="2715996"/>
                    <a:pt x="1958644" y="2767359"/>
                  </a:cubicBezTo>
                  <a:lnTo>
                    <a:pt x="2057814" y="3026193"/>
                  </a:lnTo>
                  <a:lnTo>
                    <a:pt x="1745078" y="3245174"/>
                  </a:lnTo>
                  <a:lnTo>
                    <a:pt x="1507869" y="3039237"/>
                  </a:lnTo>
                  <a:lnTo>
                    <a:pt x="1536736" y="3019025"/>
                  </a:lnTo>
                  <a:cubicBezTo>
                    <a:pt x="1445878" y="3048429"/>
                    <a:pt x="1349798" y="3062567"/>
                    <a:pt x="1251837" y="3062021"/>
                  </a:cubicBezTo>
                  <a:lnTo>
                    <a:pt x="1108065" y="3321003"/>
                  </a:lnTo>
                  <a:lnTo>
                    <a:pt x="739291" y="3222191"/>
                  </a:lnTo>
                  <a:lnTo>
                    <a:pt x="744274" y="2926021"/>
                  </a:lnTo>
                  <a:cubicBezTo>
                    <a:pt x="666128" y="2881484"/>
                    <a:pt x="595548" y="2827017"/>
                    <a:pt x="535891" y="2762576"/>
                  </a:cubicBezTo>
                  <a:lnTo>
                    <a:pt x="540671" y="2772825"/>
                  </a:lnTo>
                  <a:lnTo>
                    <a:pt x="232276" y="2832568"/>
                  </a:lnTo>
                  <a:lnTo>
                    <a:pt x="70927" y="2486556"/>
                  </a:lnTo>
                  <a:lnTo>
                    <a:pt x="279495" y="2317444"/>
                  </a:lnTo>
                  <a:cubicBezTo>
                    <a:pt x="257233" y="2235849"/>
                    <a:pt x="245603" y="2150814"/>
                    <a:pt x="245586" y="2064274"/>
                  </a:cubicBezTo>
                  <a:lnTo>
                    <a:pt x="0" y="1927940"/>
                  </a:lnTo>
                  <a:lnTo>
                    <a:pt x="98812" y="1559167"/>
                  </a:lnTo>
                  <a:lnTo>
                    <a:pt x="380240" y="1563901"/>
                  </a:lnTo>
                  <a:cubicBezTo>
                    <a:pt x="418421" y="1496524"/>
                    <a:pt x="464524" y="1435092"/>
                    <a:pt x="516679" y="1380105"/>
                  </a:cubicBezTo>
                  <a:lnTo>
                    <a:pt x="422419" y="1089378"/>
                  </a:lnTo>
                  <a:lnTo>
                    <a:pt x="746189" y="887063"/>
                  </a:lnTo>
                  <a:lnTo>
                    <a:pt x="972292" y="1105134"/>
                  </a:lnTo>
                  <a:lnTo>
                    <a:pt x="970019" y="1106554"/>
                  </a:lnTo>
                  <a:cubicBezTo>
                    <a:pt x="1058903" y="1078586"/>
                    <a:pt x="1152743" y="1065659"/>
                    <a:pt x="1248316" y="1066709"/>
                  </a:cubicBezTo>
                  <a:lnTo>
                    <a:pt x="1238669" y="1064125"/>
                  </a:lnTo>
                  <a:close/>
                  <a:moveTo>
                    <a:pt x="3349970" y="1300109"/>
                  </a:moveTo>
                  <a:cubicBezTo>
                    <a:pt x="3310130" y="1291957"/>
                    <a:pt x="3268880" y="1287676"/>
                    <a:pt x="3226630" y="1287676"/>
                  </a:cubicBezTo>
                  <a:cubicBezTo>
                    <a:pt x="2888631" y="1287676"/>
                    <a:pt x="2614628" y="1561679"/>
                    <a:pt x="2614628" y="1899678"/>
                  </a:cubicBezTo>
                  <a:cubicBezTo>
                    <a:pt x="2614628" y="2237678"/>
                    <a:pt x="2888630" y="2511680"/>
                    <a:pt x="3226630" y="2511681"/>
                  </a:cubicBezTo>
                  <a:cubicBezTo>
                    <a:pt x="3564630" y="2511681"/>
                    <a:pt x="3838633" y="2237678"/>
                    <a:pt x="3838633" y="1899678"/>
                  </a:cubicBezTo>
                  <a:cubicBezTo>
                    <a:pt x="3838632" y="1603928"/>
                    <a:pt x="3628849" y="1357176"/>
                    <a:pt x="3349970" y="1300109"/>
                  </a:cubicBezTo>
                  <a:close/>
                  <a:moveTo>
                    <a:pt x="3358324" y="1024334"/>
                  </a:moveTo>
                  <a:lnTo>
                    <a:pt x="3410883" y="1234575"/>
                  </a:lnTo>
                  <a:lnTo>
                    <a:pt x="3403994" y="1234575"/>
                  </a:lnTo>
                  <a:cubicBezTo>
                    <a:pt x="3464268" y="1250018"/>
                    <a:pt x="3521292" y="1273478"/>
                    <a:pt x="3572818" y="1305612"/>
                  </a:cubicBezTo>
                  <a:lnTo>
                    <a:pt x="3746730" y="1209354"/>
                  </a:lnTo>
                  <a:lnTo>
                    <a:pt x="3926358" y="1401981"/>
                  </a:lnTo>
                  <a:lnTo>
                    <a:pt x="3825667" y="1557247"/>
                  </a:lnTo>
                  <a:cubicBezTo>
                    <a:pt x="3858552" y="1613408"/>
                    <a:pt x="3883404" y="1674784"/>
                    <a:pt x="3897877" y="1740062"/>
                  </a:cubicBezTo>
                  <a:lnTo>
                    <a:pt x="4088377" y="1787686"/>
                  </a:lnTo>
                  <a:lnTo>
                    <a:pt x="4088377" y="2051071"/>
                  </a:lnTo>
                  <a:lnTo>
                    <a:pt x="3886243" y="2101605"/>
                  </a:lnTo>
                  <a:cubicBezTo>
                    <a:pt x="3872191" y="2150933"/>
                    <a:pt x="3851639" y="2197531"/>
                    <a:pt x="3826272" y="2241013"/>
                  </a:cubicBezTo>
                  <a:lnTo>
                    <a:pt x="3938572" y="2395786"/>
                  </a:lnTo>
                  <a:lnTo>
                    <a:pt x="3769272" y="2597551"/>
                  </a:lnTo>
                  <a:lnTo>
                    <a:pt x="3574432" y="2502674"/>
                  </a:lnTo>
                  <a:lnTo>
                    <a:pt x="3590059" y="2484050"/>
                  </a:lnTo>
                  <a:cubicBezTo>
                    <a:pt x="3534764" y="2519868"/>
                    <a:pt x="3473263" y="2546445"/>
                    <a:pt x="3407886" y="2563572"/>
                  </a:cubicBezTo>
                  <a:lnTo>
                    <a:pt x="3358323" y="2761823"/>
                  </a:lnTo>
                  <a:lnTo>
                    <a:pt x="3094938" y="2761823"/>
                  </a:lnTo>
                  <a:lnTo>
                    <a:pt x="3045375" y="2563574"/>
                  </a:lnTo>
                  <a:cubicBezTo>
                    <a:pt x="2985349" y="2547848"/>
                    <a:pt x="2928591" y="2524155"/>
                    <a:pt x="2877330" y="2491865"/>
                  </a:cubicBezTo>
                  <a:lnTo>
                    <a:pt x="2882346" y="2497841"/>
                  </a:lnTo>
                  <a:lnTo>
                    <a:pt x="2687507" y="2592718"/>
                  </a:lnTo>
                  <a:lnTo>
                    <a:pt x="2518206" y="2390954"/>
                  </a:lnTo>
                  <a:lnTo>
                    <a:pt x="2626994" y="2241021"/>
                  </a:lnTo>
                  <a:cubicBezTo>
                    <a:pt x="2597591" y="2190623"/>
                    <a:pt x="2574657" y="2136035"/>
                    <a:pt x="2559194" y="2078370"/>
                  </a:cubicBezTo>
                  <a:lnTo>
                    <a:pt x="2371198" y="2031371"/>
                  </a:lnTo>
                  <a:lnTo>
                    <a:pt x="2371198" y="1767986"/>
                  </a:lnTo>
                  <a:lnTo>
                    <a:pt x="2559579" y="1720890"/>
                  </a:lnTo>
                  <a:cubicBezTo>
                    <a:pt x="2572992" y="1669175"/>
                    <a:pt x="2592745" y="1620006"/>
                    <a:pt x="2617681" y="1574051"/>
                  </a:cubicBezTo>
                  <a:lnTo>
                    <a:pt x="2502958" y="1397149"/>
                  </a:lnTo>
                  <a:lnTo>
                    <a:pt x="2682587" y="1204520"/>
                  </a:lnTo>
                  <a:lnTo>
                    <a:pt x="2872193" y="1309466"/>
                  </a:lnTo>
                  <a:lnTo>
                    <a:pt x="2870932" y="1310818"/>
                  </a:lnTo>
                  <a:cubicBezTo>
                    <a:pt x="2925169" y="1276310"/>
                    <a:pt x="2985393" y="1250941"/>
                    <a:pt x="3049268" y="1234575"/>
                  </a:cubicBezTo>
                  <a:lnTo>
                    <a:pt x="3042378" y="1234576"/>
                  </a:lnTo>
                  <a:lnTo>
                    <a:pt x="3094939" y="1024334"/>
                  </a:lnTo>
                  <a:close/>
                  <a:moveTo>
                    <a:pt x="2786480" y="402820"/>
                  </a:moveTo>
                  <a:cubicBezTo>
                    <a:pt x="2745900" y="389943"/>
                    <a:pt x="2701172" y="388627"/>
                    <a:pt x="2657264" y="401580"/>
                  </a:cubicBezTo>
                  <a:cubicBezTo>
                    <a:pt x="2540176" y="436121"/>
                    <a:pt x="2473258" y="559041"/>
                    <a:pt x="2507800" y="676128"/>
                  </a:cubicBezTo>
                  <a:cubicBezTo>
                    <a:pt x="2542340" y="793216"/>
                    <a:pt x="2665260" y="860133"/>
                    <a:pt x="2782348" y="825592"/>
                  </a:cubicBezTo>
                  <a:cubicBezTo>
                    <a:pt x="2899435" y="791051"/>
                    <a:pt x="2966353" y="668132"/>
                    <a:pt x="2931812" y="551045"/>
                  </a:cubicBezTo>
                  <a:cubicBezTo>
                    <a:pt x="2910223" y="477864"/>
                    <a:pt x="2854113" y="424282"/>
                    <a:pt x="2786480" y="402820"/>
                  </a:cubicBezTo>
                  <a:close/>
                  <a:moveTo>
                    <a:pt x="2932202" y="47278"/>
                  </a:moveTo>
                  <a:lnTo>
                    <a:pt x="3090904" y="140999"/>
                  </a:lnTo>
                  <a:lnTo>
                    <a:pt x="3054065" y="265147"/>
                  </a:lnTo>
                  <a:cubicBezTo>
                    <a:pt x="3087256" y="296329"/>
                    <a:pt x="3116089" y="332603"/>
                    <a:pt x="3138727" y="373550"/>
                  </a:cubicBezTo>
                  <a:lnTo>
                    <a:pt x="3276016" y="367796"/>
                  </a:lnTo>
                  <a:lnTo>
                    <a:pt x="3328165" y="544574"/>
                  </a:lnTo>
                  <a:lnTo>
                    <a:pt x="3202503" y="618514"/>
                  </a:lnTo>
                  <a:cubicBezTo>
                    <a:pt x="3202838" y="654403"/>
                    <a:pt x="3198271" y="689748"/>
                    <a:pt x="3189855" y="723955"/>
                  </a:cubicBezTo>
                  <a:lnTo>
                    <a:pt x="3295873" y="805599"/>
                  </a:lnTo>
                  <a:lnTo>
                    <a:pt x="3222192" y="974540"/>
                  </a:lnTo>
                  <a:lnTo>
                    <a:pt x="3072634" y="949439"/>
                  </a:lnTo>
                  <a:lnTo>
                    <a:pt x="3079435" y="933845"/>
                  </a:lnTo>
                  <a:cubicBezTo>
                    <a:pt x="3049413" y="968833"/>
                    <a:pt x="3013398" y="998848"/>
                    <a:pt x="2972910" y="1023288"/>
                  </a:cubicBezTo>
                  <a:lnTo>
                    <a:pt x="2978897" y="1166163"/>
                  </a:lnTo>
                  <a:lnTo>
                    <a:pt x="2802119" y="1218312"/>
                  </a:lnTo>
                  <a:lnTo>
                    <a:pt x="2729602" y="1095065"/>
                  </a:lnTo>
                  <a:cubicBezTo>
                    <a:pt x="2686199" y="1096396"/>
                    <a:pt x="2643414" y="1091732"/>
                    <a:pt x="2602615" y="1080209"/>
                  </a:cubicBezTo>
                  <a:lnTo>
                    <a:pt x="2607165" y="1083226"/>
                  </a:lnTo>
                  <a:lnTo>
                    <a:pt x="2495179" y="1185484"/>
                  </a:lnTo>
                  <a:lnTo>
                    <a:pt x="2341599" y="1083585"/>
                  </a:lnTo>
                  <a:lnTo>
                    <a:pt x="2384929" y="961414"/>
                  </a:lnTo>
                  <a:cubicBezTo>
                    <a:pt x="2355215" y="933409"/>
                    <a:pt x="2329015" y="901312"/>
                    <a:pt x="2307218" y="865670"/>
                  </a:cubicBezTo>
                  <a:lnTo>
                    <a:pt x="2171734" y="871348"/>
                  </a:lnTo>
                  <a:lnTo>
                    <a:pt x="2119584" y="694571"/>
                  </a:lnTo>
                  <a:lnTo>
                    <a:pt x="2236697" y="625662"/>
                  </a:lnTo>
                  <a:cubicBezTo>
                    <a:pt x="2235459" y="588297"/>
                    <a:pt x="2238982" y="551385"/>
                    <a:pt x="2246620" y="515603"/>
                  </a:cubicBezTo>
                  <a:lnTo>
                    <a:pt x="2134594" y="419585"/>
                  </a:lnTo>
                  <a:lnTo>
                    <a:pt x="2217016" y="254732"/>
                  </a:lnTo>
                  <a:lnTo>
                    <a:pt x="2365055" y="287627"/>
                  </a:lnTo>
                  <a:lnTo>
                    <a:pt x="2364476" y="288784"/>
                  </a:lnTo>
                  <a:cubicBezTo>
                    <a:pt x="2394046" y="254885"/>
                    <a:pt x="2429444" y="225933"/>
                    <a:pt x="2469075" y="202302"/>
                  </a:cubicBezTo>
                  <a:lnTo>
                    <a:pt x="2464452" y="203666"/>
                  </a:lnTo>
                  <a:lnTo>
                    <a:pt x="2458102" y="52150"/>
                  </a:lnTo>
                  <a:lnTo>
                    <a:pt x="2634880" y="0"/>
                  </a:lnTo>
                  <a:lnTo>
                    <a:pt x="2711784" y="130703"/>
                  </a:lnTo>
                  <a:lnTo>
                    <a:pt x="2707159" y="132067"/>
                  </a:lnTo>
                  <a:cubicBezTo>
                    <a:pt x="2750672" y="130497"/>
                    <a:pt x="2793590" y="134953"/>
                    <a:pt x="2834535" y="146319"/>
                  </a:cubicBezTo>
                  <a:close/>
                </a:path>
              </a:pathLst>
            </a:custGeom>
            <a:solidFill>
              <a:schemeClr val="bg1"/>
            </a:solidFill>
            <a:ln w="3175">
              <a:solidFill>
                <a:schemeClr val="bg2">
                  <a:lumMod val="75000"/>
                </a:schemeClr>
              </a:solidFill>
            </a:ln>
            <a:effectLst>
              <a:outerShdw blurRad="50800" dist="38100" dir="8100000" sx="97000" sy="97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>
                <a:solidFill>
                  <a:schemeClr val="bg1"/>
                </a:solidFill>
              </a:endParaRPr>
            </a:p>
          </p:txBody>
        </p:sp>
        <p:grpSp>
          <p:nvGrpSpPr>
            <p:cNvPr id="14" name="群組 13">
              <a:extLst>
                <a:ext uri="{FF2B5EF4-FFF2-40B4-BE49-F238E27FC236}">
                  <a16:creationId xmlns:a16="http://schemas.microsoft.com/office/drawing/2014/main" id="{3E91ED7E-6F95-12F9-3EB2-B02A5DF1A8FE}"/>
                </a:ext>
              </a:extLst>
            </p:cNvPr>
            <p:cNvGrpSpPr/>
            <p:nvPr/>
          </p:nvGrpSpPr>
          <p:grpSpPr>
            <a:xfrm>
              <a:off x="1727685" y="4270681"/>
              <a:ext cx="324623" cy="168848"/>
              <a:chOff x="2114400" y="4249726"/>
              <a:chExt cx="324623" cy="168848"/>
            </a:xfrm>
          </p:grpSpPr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7B31B170-9B0C-8CB4-975E-D340975F69B4}"/>
                  </a:ext>
                </a:extLst>
              </p:cNvPr>
              <p:cNvSpPr txBox="1"/>
              <p:nvPr/>
            </p:nvSpPr>
            <p:spPr>
              <a:xfrm>
                <a:off x="2114400" y="4249726"/>
                <a:ext cx="280467" cy="1462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b="1" dirty="0">
                    <a:ln w="3175">
                      <a:solidFill>
                        <a:schemeClr val="bg2">
                          <a:lumMod val="5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masis MT Pro Black" panose="020F0502020204030204" pitchFamily="18" charset="0"/>
                    <a:cs typeface="Arial" panose="020B0604020202020204" pitchFamily="34" charset="0"/>
                  </a:rPr>
                  <a:t>FME</a:t>
                </a:r>
                <a:endParaRPr lang="zh-TW" altLang="en-US" b="1" dirty="0">
                  <a:ln w="3175">
                    <a:solidFill>
                      <a:schemeClr val="bg2">
                        <a:lumMod val="50000"/>
                      </a:schemeClr>
                    </a:solidFill>
                  </a:ln>
                  <a:solidFill>
                    <a:schemeClr val="bg1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  <a:latin typeface="Amasis MT Pro Black" panose="020F05020202040302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0E9DDE14-C7D6-F82F-1A03-09B74D1D3628}"/>
                  </a:ext>
                </a:extLst>
              </p:cNvPr>
              <p:cNvSpPr txBox="1"/>
              <p:nvPr/>
            </p:nvSpPr>
            <p:spPr>
              <a:xfrm>
                <a:off x="2131213" y="4333260"/>
                <a:ext cx="307810" cy="853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800" b="1" dirty="0">
                    <a:ln w="3175">
                      <a:noFill/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BG6</a:t>
                </a:r>
                <a:r>
                  <a:rPr lang="zh-TW" altLang="en-US" sz="800" b="1" dirty="0">
                    <a:ln w="3175">
                      <a:noFill/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TW" sz="800" b="1" dirty="0">
                    <a:ln w="0">
                      <a:noFill/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PVN</a:t>
                </a:r>
                <a:endParaRPr lang="zh-TW" altLang="en-US" sz="800" b="1" dirty="0">
                  <a:ln w="0">
                    <a:noFill/>
                  </a:ln>
                  <a:solidFill>
                    <a:schemeClr val="bg1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200753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群組 2"/>
          <p:cNvGrpSpPr/>
          <p:nvPr/>
        </p:nvGrpSpPr>
        <p:grpSpPr>
          <a:xfrm>
            <a:off x="11145334" y="6021230"/>
            <a:ext cx="1058632" cy="775686"/>
            <a:chOff x="1633100" y="4132365"/>
            <a:chExt cx="419208" cy="307164"/>
          </a:xfrm>
        </p:grpSpPr>
        <p:sp>
          <p:nvSpPr>
            <p:cNvPr id="4" name="Oval 21"/>
            <p:cNvSpPr/>
            <p:nvPr/>
          </p:nvSpPr>
          <p:spPr>
            <a:xfrm rot="20111049">
              <a:off x="1633100" y="4132365"/>
              <a:ext cx="301450" cy="254502"/>
            </a:xfrm>
            <a:custGeom>
              <a:avLst/>
              <a:gdLst/>
              <a:ahLst/>
              <a:cxnLst/>
              <a:rect l="l" t="t" r="r" b="b"/>
              <a:pathLst>
                <a:path w="4088377" h="3321003">
                  <a:moveTo>
                    <a:pt x="1365628" y="1622218"/>
                  </a:moveTo>
                  <a:cubicBezTo>
                    <a:pt x="1121373" y="1556771"/>
                    <a:pt x="870309" y="1701722"/>
                    <a:pt x="804861" y="1945977"/>
                  </a:cubicBezTo>
                  <a:cubicBezTo>
                    <a:pt x="739413" y="2190232"/>
                    <a:pt x="884365" y="2441296"/>
                    <a:pt x="1128620" y="2506744"/>
                  </a:cubicBezTo>
                  <a:cubicBezTo>
                    <a:pt x="1372875" y="2572191"/>
                    <a:pt x="1623939" y="2427240"/>
                    <a:pt x="1689387" y="2182985"/>
                  </a:cubicBezTo>
                  <a:cubicBezTo>
                    <a:pt x="1754835" y="1938730"/>
                    <a:pt x="1609883" y="1687666"/>
                    <a:pt x="1365628" y="1622218"/>
                  </a:cubicBezTo>
                  <a:close/>
                  <a:moveTo>
                    <a:pt x="1447099" y="1318163"/>
                  </a:moveTo>
                  <a:cubicBezTo>
                    <a:pt x="1859279" y="1428606"/>
                    <a:pt x="2103885" y="1852277"/>
                    <a:pt x="1993442" y="2264456"/>
                  </a:cubicBezTo>
                  <a:cubicBezTo>
                    <a:pt x="1882999" y="2676636"/>
                    <a:pt x="1459328" y="2921242"/>
                    <a:pt x="1047149" y="2810799"/>
                  </a:cubicBezTo>
                  <a:cubicBezTo>
                    <a:pt x="634969" y="2700356"/>
                    <a:pt x="390363" y="2276685"/>
                    <a:pt x="500806" y="1864505"/>
                  </a:cubicBezTo>
                  <a:cubicBezTo>
                    <a:pt x="611249" y="1452326"/>
                    <a:pt x="1034920" y="1207720"/>
                    <a:pt x="1447099" y="1318163"/>
                  </a:cubicBezTo>
                  <a:close/>
                  <a:moveTo>
                    <a:pt x="1476725" y="1207597"/>
                  </a:moveTo>
                  <a:cubicBezTo>
                    <a:pt x="1003481" y="1080792"/>
                    <a:pt x="517045" y="1361635"/>
                    <a:pt x="390240" y="1834879"/>
                  </a:cubicBezTo>
                  <a:cubicBezTo>
                    <a:pt x="263435" y="2308124"/>
                    <a:pt x="544279" y="2794559"/>
                    <a:pt x="1017523" y="2921365"/>
                  </a:cubicBezTo>
                  <a:cubicBezTo>
                    <a:pt x="1490767" y="3048170"/>
                    <a:pt x="1977202" y="2767326"/>
                    <a:pt x="2104008" y="2294082"/>
                  </a:cubicBezTo>
                  <a:cubicBezTo>
                    <a:pt x="2230813" y="1820838"/>
                    <a:pt x="1949969" y="1334403"/>
                    <a:pt x="1476725" y="1207597"/>
                  </a:cubicBezTo>
                  <a:close/>
                  <a:moveTo>
                    <a:pt x="3290290" y="1590224"/>
                  </a:moveTo>
                  <a:cubicBezTo>
                    <a:pt x="3269727" y="1586016"/>
                    <a:pt x="3248437" y="1583806"/>
                    <a:pt x="3226630" y="1583806"/>
                  </a:cubicBezTo>
                  <a:cubicBezTo>
                    <a:pt x="3052179" y="1583806"/>
                    <a:pt x="2910758" y="1725227"/>
                    <a:pt x="2910758" y="1899678"/>
                  </a:cubicBezTo>
                  <a:cubicBezTo>
                    <a:pt x="2910758" y="2074130"/>
                    <a:pt x="3052179" y="2215551"/>
                    <a:pt x="3226630" y="2215550"/>
                  </a:cubicBezTo>
                  <a:cubicBezTo>
                    <a:pt x="3401082" y="2215551"/>
                    <a:pt x="3542503" y="2074130"/>
                    <a:pt x="3542502" y="1899678"/>
                  </a:cubicBezTo>
                  <a:cubicBezTo>
                    <a:pt x="3542503" y="1747033"/>
                    <a:pt x="3434228" y="1619677"/>
                    <a:pt x="3290290" y="1590224"/>
                  </a:cubicBezTo>
                  <a:close/>
                  <a:moveTo>
                    <a:pt x="3334055" y="1377473"/>
                  </a:moveTo>
                  <a:cubicBezTo>
                    <a:pt x="3576950" y="1427177"/>
                    <a:pt x="3759665" y="1642090"/>
                    <a:pt x="3759665" y="1899678"/>
                  </a:cubicBezTo>
                  <a:cubicBezTo>
                    <a:pt x="3759665" y="2194064"/>
                    <a:pt x="3521017" y="2432713"/>
                    <a:pt x="3226630" y="2432713"/>
                  </a:cubicBezTo>
                  <a:cubicBezTo>
                    <a:pt x="2932244" y="2432712"/>
                    <a:pt x="2693596" y="2194065"/>
                    <a:pt x="2693596" y="1899678"/>
                  </a:cubicBezTo>
                  <a:cubicBezTo>
                    <a:pt x="2693596" y="1605292"/>
                    <a:pt x="2932244" y="1366644"/>
                    <a:pt x="3226630" y="1366644"/>
                  </a:cubicBezTo>
                  <a:cubicBezTo>
                    <a:pt x="3263429" y="1366644"/>
                    <a:pt x="3299356" y="1370373"/>
                    <a:pt x="3334055" y="1377473"/>
                  </a:cubicBezTo>
                  <a:close/>
                  <a:moveTo>
                    <a:pt x="1391137" y="789478"/>
                  </a:moveTo>
                  <a:lnTo>
                    <a:pt x="1759910" y="888290"/>
                  </a:lnTo>
                  <a:lnTo>
                    <a:pt x="1754625" y="1202375"/>
                  </a:lnTo>
                  <a:lnTo>
                    <a:pt x="1744979" y="1199790"/>
                  </a:lnTo>
                  <a:cubicBezTo>
                    <a:pt x="1823578" y="1244024"/>
                    <a:pt x="1894617" y="1298265"/>
                    <a:pt x="1954704" y="1362586"/>
                  </a:cubicBezTo>
                  <a:lnTo>
                    <a:pt x="2234317" y="1293059"/>
                  </a:lnTo>
                  <a:lnTo>
                    <a:pt x="2413554" y="1630152"/>
                  </a:lnTo>
                  <a:lnTo>
                    <a:pt x="2214321" y="1809770"/>
                  </a:lnTo>
                  <a:cubicBezTo>
                    <a:pt x="2239296" y="1900740"/>
                    <a:pt x="2251067" y="1995997"/>
                    <a:pt x="2246841" y="2092825"/>
                  </a:cubicBezTo>
                  <a:lnTo>
                    <a:pt x="2495698" y="2230974"/>
                  </a:lnTo>
                  <a:lnTo>
                    <a:pt x="2396885" y="2599747"/>
                  </a:lnTo>
                  <a:lnTo>
                    <a:pt x="2094912" y="2594668"/>
                  </a:lnTo>
                  <a:cubicBezTo>
                    <a:pt x="2056732" y="2658461"/>
                    <a:pt x="2010475" y="2715996"/>
                    <a:pt x="1958644" y="2767359"/>
                  </a:cubicBezTo>
                  <a:lnTo>
                    <a:pt x="2057814" y="3026193"/>
                  </a:lnTo>
                  <a:lnTo>
                    <a:pt x="1745078" y="3245174"/>
                  </a:lnTo>
                  <a:lnTo>
                    <a:pt x="1507869" y="3039237"/>
                  </a:lnTo>
                  <a:lnTo>
                    <a:pt x="1536736" y="3019025"/>
                  </a:lnTo>
                  <a:cubicBezTo>
                    <a:pt x="1445878" y="3048429"/>
                    <a:pt x="1349798" y="3062567"/>
                    <a:pt x="1251837" y="3062021"/>
                  </a:cubicBezTo>
                  <a:lnTo>
                    <a:pt x="1108065" y="3321003"/>
                  </a:lnTo>
                  <a:lnTo>
                    <a:pt x="739291" y="3222191"/>
                  </a:lnTo>
                  <a:lnTo>
                    <a:pt x="744274" y="2926021"/>
                  </a:lnTo>
                  <a:cubicBezTo>
                    <a:pt x="666128" y="2881484"/>
                    <a:pt x="595548" y="2827017"/>
                    <a:pt x="535891" y="2762576"/>
                  </a:cubicBezTo>
                  <a:lnTo>
                    <a:pt x="540671" y="2772825"/>
                  </a:lnTo>
                  <a:lnTo>
                    <a:pt x="232276" y="2832568"/>
                  </a:lnTo>
                  <a:lnTo>
                    <a:pt x="70927" y="2486556"/>
                  </a:lnTo>
                  <a:lnTo>
                    <a:pt x="279495" y="2317444"/>
                  </a:lnTo>
                  <a:cubicBezTo>
                    <a:pt x="257233" y="2235849"/>
                    <a:pt x="245603" y="2150814"/>
                    <a:pt x="245586" y="2064274"/>
                  </a:cubicBezTo>
                  <a:lnTo>
                    <a:pt x="0" y="1927940"/>
                  </a:lnTo>
                  <a:lnTo>
                    <a:pt x="98812" y="1559167"/>
                  </a:lnTo>
                  <a:lnTo>
                    <a:pt x="380240" y="1563901"/>
                  </a:lnTo>
                  <a:cubicBezTo>
                    <a:pt x="418421" y="1496524"/>
                    <a:pt x="464524" y="1435092"/>
                    <a:pt x="516679" y="1380105"/>
                  </a:cubicBezTo>
                  <a:lnTo>
                    <a:pt x="422419" y="1089378"/>
                  </a:lnTo>
                  <a:lnTo>
                    <a:pt x="746189" y="887063"/>
                  </a:lnTo>
                  <a:lnTo>
                    <a:pt x="972292" y="1105134"/>
                  </a:lnTo>
                  <a:lnTo>
                    <a:pt x="970019" y="1106554"/>
                  </a:lnTo>
                  <a:cubicBezTo>
                    <a:pt x="1058903" y="1078586"/>
                    <a:pt x="1152743" y="1065659"/>
                    <a:pt x="1248316" y="1066709"/>
                  </a:cubicBezTo>
                  <a:lnTo>
                    <a:pt x="1238669" y="1064125"/>
                  </a:lnTo>
                  <a:close/>
                  <a:moveTo>
                    <a:pt x="3349970" y="1300109"/>
                  </a:moveTo>
                  <a:cubicBezTo>
                    <a:pt x="3310130" y="1291957"/>
                    <a:pt x="3268880" y="1287676"/>
                    <a:pt x="3226630" y="1287676"/>
                  </a:cubicBezTo>
                  <a:cubicBezTo>
                    <a:pt x="2888631" y="1287676"/>
                    <a:pt x="2614628" y="1561679"/>
                    <a:pt x="2614628" y="1899678"/>
                  </a:cubicBezTo>
                  <a:cubicBezTo>
                    <a:pt x="2614628" y="2237678"/>
                    <a:pt x="2888630" y="2511680"/>
                    <a:pt x="3226630" y="2511681"/>
                  </a:cubicBezTo>
                  <a:cubicBezTo>
                    <a:pt x="3564630" y="2511681"/>
                    <a:pt x="3838633" y="2237678"/>
                    <a:pt x="3838633" y="1899678"/>
                  </a:cubicBezTo>
                  <a:cubicBezTo>
                    <a:pt x="3838632" y="1603928"/>
                    <a:pt x="3628849" y="1357176"/>
                    <a:pt x="3349970" y="1300109"/>
                  </a:cubicBezTo>
                  <a:close/>
                  <a:moveTo>
                    <a:pt x="3358324" y="1024334"/>
                  </a:moveTo>
                  <a:lnTo>
                    <a:pt x="3410883" y="1234575"/>
                  </a:lnTo>
                  <a:lnTo>
                    <a:pt x="3403994" y="1234575"/>
                  </a:lnTo>
                  <a:cubicBezTo>
                    <a:pt x="3464268" y="1250018"/>
                    <a:pt x="3521292" y="1273478"/>
                    <a:pt x="3572818" y="1305612"/>
                  </a:cubicBezTo>
                  <a:lnTo>
                    <a:pt x="3746730" y="1209354"/>
                  </a:lnTo>
                  <a:lnTo>
                    <a:pt x="3926358" y="1401981"/>
                  </a:lnTo>
                  <a:lnTo>
                    <a:pt x="3825667" y="1557247"/>
                  </a:lnTo>
                  <a:cubicBezTo>
                    <a:pt x="3858552" y="1613408"/>
                    <a:pt x="3883404" y="1674784"/>
                    <a:pt x="3897877" y="1740062"/>
                  </a:cubicBezTo>
                  <a:lnTo>
                    <a:pt x="4088377" y="1787686"/>
                  </a:lnTo>
                  <a:lnTo>
                    <a:pt x="4088377" y="2051071"/>
                  </a:lnTo>
                  <a:lnTo>
                    <a:pt x="3886243" y="2101605"/>
                  </a:lnTo>
                  <a:cubicBezTo>
                    <a:pt x="3872191" y="2150933"/>
                    <a:pt x="3851639" y="2197531"/>
                    <a:pt x="3826272" y="2241013"/>
                  </a:cubicBezTo>
                  <a:lnTo>
                    <a:pt x="3938572" y="2395786"/>
                  </a:lnTo>
                  <a:lnTo>
                    <a:pt x="3769272" y="2597551"/>
                  </a:lnTo>
                  <a:lnTo>
                    <a:pt x="3574432" y="2502674"/>
                  </a:lnTo>
                  <a:lnTo>
                    <a:pt x="3590059" y="2484050"/>
                  </a:lnTo>
                  <a:cubicBezTo>
                    <a:pt x="3534764" y="2519868"/>
                    <a:pt x="3473263" y="2546445"/>
                    <a:pt x="3407886" y="2563572"/>
                  </a:cubicBezTo>
                  <a:lnTo>
                    <a:pt x="3358323" y="2761823"/>
                  </a:lnTo>
                  <a:lnTo>
                    <a:pt x="3094938" y="2761823"/>
                  </a:lnTo>
                  <a:lnTo>
                    <a:pt x="3045375" y="2563574"/>
                  </a:lnTo>
                  <a:cubicBezTo>
                    <a:pt x="2985349" y="2547848"/>
                    <a:pt x="2928591" y="2524155"/>
                    <a:pt x="2877330" y="2491865"/>
                  </a:cubicBezTo>
                  <a:lnTo>
                    <a:pt x="2882346" y="2497841"/>
                  </a:lnTo>
                  <a:lnTo>
                    <a:pt x="2687507" y="2592718"/>
                  </a:lnTo>
                  <a:lnTo>
                    <a:pt x="2518206" y="2390954"/>
                  </a:lnTo>
                  <a:lnTo>
                    <a:pt x="2626994" y="2241021"/>
                  </a:lnTo>
                  <a:cubicBezTo>
                    <a:pt x="2597591" y="2190623"/>
                    <a:pt x="2574657" y="2136035"/>
                    <a:pt x="2559194" y="2078370"/>
                  </a:cubicBezTo>
                  <a:lnTo>
                    <a:pt x="2371198" y="2031371"/>
                  </a:lnTo>
                  <a:lnTo>
                    <a:pt x="2371198" y="1767986"/>
                  </a:lnTo>
                  <a:lnTo>
                    <a:pt x="2559579" y="1720890"/>
                  </a:lnTo>
                  <a:cubicBezTo>
                    <a:pt x="2572992" y="1669175"/>
                    <a:pt x="2592745" y="1620006"/>
                    <a:pt x="2617681" y="1574051"/>
                  </a:cubicBezTo>
                  <a:lnTo>
                    <a:pt x="2502958" y="1397149"/>
                  </a:lnTo>
                  <a:lnTo>
                    <a:pt x="2682587" y="1204520"/>
                  </a:lnTo>
                  <a:lnTo>
                    <a:pt x="2872193" y="1309466"/>
                  </a:lnTo>
                  <a:lnTo>
                    <a:pt x="2870932" y="1310818"/>
                  </a:lnTo>
                  <a:cubicBezTo>
                    <a:pt x="2925169" y="1276310"/>
                    <a:pt x="2985393" y="1250941"/>
                    <a:pt x="3049268" y="1234575"/>
                  </a:cubicBezTo>
                  <a:lnTo>
                    <a:pt x="3042378" y="1234576"/>
                  </a:lnTo>
                  <a:lnTo>
                    <a:pt x="3094939" y="1024334"/>
                  </a:lnTo>
                  <a:close/>
                  <a:moveTo>
                    <a:pt x="2786480" y="402820"/>
                  </a:moveTo>
                  <a:cubicBezTo>
                    <a:pt x="2745900" y="389943"/>
                    <a:pt x="2701172" y="388627"/>
                    <a:pt x="2657264" y="401580"/>
                  </a:cubicBezTo>
                  <a:cubicBezTo>
                    <a:pt x="2540176" y="436121"/>
                    <a:pt x="2473258" y="559041"/>
                    <a:pt x="2507800" y="676128"/>
                  </a:cubicBezTo>
                  <a:cubicBezTo>
                    <a:pt x="2542340" y="793216"/>
                    <a:pt x="2665260" y="860133"/>
                    <a:pt x="2782348" y="825592"/>
                  </a:cubicBezTo>
                  <a:cubicBezTo>
                    <a:pt x="2899435" y="791051"/>
                    <a:pt x="2966353" y="668132"/>
                    <a:pt x="2931812" y="551045"/>
                  </a:cubicBezTo>
                  <a:cubicBezTo>
                    <a:pt x="2910223" y="477864"/>
                    <a:pt x="2854113" y="424282"/>
                    <a:pt x="2786480" y="402820"/>
                  </a:cubicBezTo>
                  <a:close/>
                  <a:moveTo>
                    <a:pt x="2932202" y="47278"/>
                  </a:moveTo>
                  <a:lnTo>
                    <a:pt x="3090904" y="140999"/>
                  </a:lnTo>
                  <a:lnTo>
                    <a:pt x="3054065" y="265147"/>
                  </a:lnTo>
                  <a:cubicBezTo>
                    <a:pt x="3087256" y="296329"/>
                    <a:pt x="3116089" y="332603"/>
                    <a:pt x="3138727" y="373550"/>
                  </a:cubicBezTo>
                  <a:lnTo>
                    <a:pt x="3276016" y="367796"/>
                  </a:lnTo>
                  <a:lnTo>
                    <a:pt x="3328165" y="544574"/>
                  </a:lnTo>
                  <a:lnTo>
                    <a:pt x="3202503" y="618514"/>
                  </a:lnTo>
                  <a:cubicBezTo>
                    <a:pt x="3202838" y="654403"/>
                    <a:pt x="3198271" y="689748"/>
                    <a:pt x="3189855" y="723955"/>
                  </a:cubicBezTo>
                  <a:lnTo>
                    <a:pt x="3295873" y="805599"/>
                  </a:lnTo>
                  <a:lnTo>
                    <a:pt x="3222192" y="974540"/>
                  </a:lnTo>
                  <a:lnTo>
                    <a:pt x="3072634" y="949439"/>
                  </a:lnTo>
                  <a:lnTo>
                    <a:pt x="3079435" y="933845"/>
                  </a:lnTo>
                  <a:cubicBezTo>
                    <a:pt x="3049413" y="968833"/>
                    <a:pt x="3013398" y="998848"/>
                    <a:pt x="2972910" y="1023288"/>
                  </a:cubicBezTo>
                  <a:lnTo>
                    <a:pt x="2978897" y="1166163"/>
                  </a:lnTo>
                  <a:lnTo>
                    <a:pt x="2802119" y="1218312"/>
                  </a:lnTo>
                  <a:lnTo>
                    <a:pt x="2729602" y="1095065"/>
                  </a:lnTo>
                  <a:cubicBezTo>
                    <a:pt x="2686199" y="1096396"/>
                    <a:pt x="2643414" y="1091732"/>
                    <a:pt x="2602615" y="1080209"/>
                  </a:cubicBezTo>
                  <a:lnTo>
                    <a:pt x="2607165" y="1083226"/>
                  </a:lnTo>
                  <a:lnTo>
                    <a:pt x="2495179" y="1185484"/>
                  </a:lnTo>
                  <a:lnTo>
                    <a:pt x="2341599" y="1083585"/>
                  </a:lnTo>
                  <a:lnTo>
                    <a:pt x="2384929" y="961414"/>
                  </a:lnTo>
                  <a:cubicBezTo>
                    <a:pt x="2355215" y="933409"/>
                    <a:pt x="2329015" y="901312"/>
                    <a:pt x="2307218" y="865670"/>
                  </a:cubicBezTo>
                  <a:lnTo>
                    <a:pt x="2171734" y="871348"/>
                  </a:lnTo>
                  <a:lnTo>
                    <a:pt x="2119584" y="694571"/>
                  </a:lnTo>
                  <a:lnTo>
                    <a:pt x="2236697" y="625662"/>
                  </a:lnTo>
                  <a:cubicBezTo>
                    <a:pt x="2235459" y="588297"/>
                    <a:pt x="2238982" y="551385"/>
                    <a:pt x="2246620" y="515603"/>
                  </a:cubicBezTo>
                  <a:lnTo>
                    <a:pt x="2134594" y="419585"/>
                  </a:lnTo>
                  <a:lnTo>
                    <a:pt x="2217016" y="254732"/>
                  </a:lnTo>
                  <a:lnTo>
                    <a:pt x="2365055" y="287627"/>
                  </a:lnTo>
                  <a:lnTo>
                    <a:pt x="2364476" y="288784"/>
                  </a:lnTo>
                  <a:cubicBezTo>
                    <a:pt x="2394046" y="254885"/>
                    <a:pt x="2429444" y="225933"/>
                    <a:pt x="2469075" y="202302"/>
                  </a:cubicBezTo>
                  <a:lnTo>
                    <a:pt x="2464452" y="203666"/>
                  </a:lnTo>
                  <a:lnTo>
                    <a:pt x="2458102" y="52150"/>
                  </a:lnTo>
                  <a:lnTo>
                    <a:pt x="2634880" y="0"/>
                  </a:lnTo>
                  <a:lnTo>
                    <a:pt x="2711784" y="130703"/>
                  </a:lnTo>
                  <a:lnTo>
                    <a:pt x="2707159" y="132067"/>
                  </a:lnTo>
                  <a:cubicBezTo>
                    <a:pt x="2750672" y="130497"/>
                    <a:pt x="2793590" y="134953"/>
                    <a:pt x="2834535" y="146319"/>
                  </a:cubicBezTo>
                  <a:close/>
                </a:path>
              </a:pathLst>
            </a:custGeom>
            <a:solidFill>
              <a:schemeClr val="bg1"/>
            </a:solidFill>
            <a:ln w="3175">
              <a:solidFill>
                <a:schemeClr val="bg2">
                  <a:lumMod val="75000"/>
                </a:schemeClr>
              </a:solidFill>
            </a:ln>
            <a:effectLst>
              <a:outerShdw blurRad="50800" dist="38100" dir="8100000" sx="97000" sy="97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ko-KR" altLang="en-US" sz="2700">
                <a:solidFill>
                  <a:schemeClr val="bg1"/>
                </a:solidFill>
              </a:endParaRPr>
            </a:p>
          </p:txBody>
        </p:sp>
        <p:grpSp>
          <p:nvGrpSpPr>
            <p:cNvPr id="6" name="群組 5"/>
            <p:cNvGrpSpPr/>
            <p:nvPr/>
          </p:nvGrpSpPr>
          <p:grpSpPr>
            <a:xfrm>
              <a:off x="1727685" y="4270681"/>
              <a:ext cx="324623" cy="168848"/>
              <a:chOff x="2114400" y="4249726"/>
              <a:chExt cx="324623" cy="168848"/>
            </a:xfrm>
          </p:grpSpPr>
          <p:sp>
            <p:nvSpPr>
              <p:cNvPr id="7" name="文字方塊 6"/>
              <p:cNvSpPr txBox="1"/>
              <p:nvPr/>
            </p:nvSpPr>
            <p:spPr>
              <a:xfrm>
                <a:off x="2114400" y="4249726"/>
                <a:ext cx="280467" cy="1462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b="1" dirty="0">
                    <a:ln w="3175">
                      <a:solidFill>
                        <a:schemeClr val="bg2">
                          <a:lumMod val="5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masis MT Pro Black" panose="020F0502020204030204" pitchFamily="18" charset="0"/>
                    <a:cs typeface="Arial" panose="020B0604020202020204" pitchFamily="34" charset="0"/>
                  </a:rPr>
                  <a:t>FME</a:t>
                </a:r>
                <a:endParaRPr lang="zh-TW" altLang="en-US" b="1" dirty="0">
                  <a:ln w="3175">
                    <a:solidFill>
                      <a:schemeClr val="bg2">
                        <a:lumMod val="50000"/>
                      </a:schemeClr>
                    </a:solidFill>
                  </a:ln>
                  <a:solidFill>
                    <a:schemeClr val="bg1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  <a:latin typeface="Amasis MT Pro Black" panose="020F05020202040302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" name="文字方塊 7"/>
              <p:cNvSpPr txBox="1"/>
              <p:nvPr/>
            </p:nvSpPr>
            <p:spPr>
              <a:xfrm>
                <a:off x="2131213" y="4333260"/>
                <a:ext cx="307810" cy="853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800" b="1" dirty="0">
                    <a:ln w="3175">
                      <a:noFill/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BG6</a:t>
                </a:r>
                <a:r>
                  <a:rPr lang="zh-TW" altLang="en-US" sz="800" b="1" dirty="0">
                    <a:ln w="3175">
                      <a:noFill/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TW" sz="800" b="1" dirty="0">
                    <a:ln w="0">
                      <a:noFill/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PVN</a:t>
                </a:r>
                <a:endParaRPr lang="zh-TW" altLang="en-US" sz="800" b="1" dirty="0">
                  <a:ln w="0">
                    <a:noFill/>
                  </a:ln>
                  <a:solidFill>
                    <a:schemeClr val="bg1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43" name="群組 42"/>
          <p:cNvGrpSpPr/>
          <p:nvPr/>
        </p:nvGrpSpPr>
        <p:grpSpPr>
          <a:xfrm>
            <a:off x="195262" y="178409"/>
            <a:ext cx="11801476" cy="588751"/>
            <a:chOff x="195262" y="163202"/>
            <a:chExt cx="11801476" cy="588751"/>
          </a:xfrm>
        </p:grpSpPr>
        <p:sp>
          <p:nvSpPr>
            <p:cNvPr id="44" name="矩形: 圓角 43"/>
            <p:cNvSpPr/>
            <p:nvPr/>
          </p:nvSpPr>
          <p:spPr>
            <a:xfrm>
              <a:off x="195262" y="247970"/>
              <a:ext cx="11801476" cy="419217"/>
            </a:xfrm>
            <a:prstGeom prst="roundRect">
              <a:avLst>
                <a:gd name="adj" fmla="val 40804"/>
              </a:avLst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8000">
                  <a:schemeClr val="tx1">
                    <a:lumMod val="50000"/>
                    <a:lumOff val="50000"/>
                  </a:schemeClr>
                </a:gs>
                <a:gs pos="83000">
                  <a:schemeClr val="tx1">
                    <a:lumMod val="75000"/>
                    <a:lumOff val="25000"/>
                  </a:schemeClr>
                </a:gs>
                <a:gs pos="100000">
                  <a:schemeClr val="tx1">
                    <a:lumMod val="75000"/>
                    <a:lumOff val="25000"/>
                  </a:schemeClr>
                </a:gs>
              </a:gsLst>
              <a:lin ang="0" scaled="1"/>
              <a:tileRect/>
            </a:gradFill>
            <a:ln w="381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grpSp>
          <p:nvGrpSpPr>
            <p:cNvPr id="45" name="群組 44"/>
            <p:cNvGrpSpPr/>
            <p:nvPr/>
          </p:nvGrpSpPr>
          <p:grpSpPr>
            <a:xfrm>
              <a:off x="600729" y="163202"/>
              <a:ext cx="1038687" cy="588751"/>
              <a:chOff x="1782913" y="2529000"/>
              <a:chExt cx="3121572" cy="1800001"/>
            </a:xfrm>
          </p:grpSpPr>
          <p:sp>
            <p:nvSpPr>
              <p:cNvPr id="48" name="圆角矩形 15"/>
              <p:cNvSpPr/>
              <p:nvPr/>
            </p:nvSpPr>
            <p:spPr>
              <a:xfrm rot="2700000">
                <a:off x="1857839" y="2529000"/>
                <a:ext cx="1800000" cy="1800001"/>
              </a:xfrm>
              <a:prstGeom prst="roundRect">
                <a:avLst/>
              </a:prstGeom>
              <a:solidFill>
                <a:srgbClr val="34B2E4"/>
              </a:solidFill>
              <a:ln>
                <a:noFill/>
              </a:ln>
              <a:effectLst>
                <a:outerShdw blurRad="127000" algn="ctr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  <a:cs typeface="+mn-ea"/>
                  <a:sym typeface="+mn-lt"/>
                </a:endParaRPr>
              </a:p>
            </p:txBody>
          </p:sp>
          <p:sp>
            <p:nvSpPr>
              <p:cNvPr id="49" name="圆角矩形 16"/>
              <p:cNvSpPr/>
              <p:nvPr/>
            </p:nvSpPr>
            <p:spPr>
              <a:xfrm rot="2700000">
                <a:off x="1782913" y="2529000"/>
                <a:ext cx="1800000" cy="1800000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190500" algn="ctr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  <a:cs typeface="+mn-ea"/>
                  <a:sym typeface="+mn-lt"/>
                </a:endParaRPr>
              </a:p>
            </p:txBody>
          </p:sp>
          <p:pic>
            <p:nvPicPr>
              <p:cNvPr id="50" name="圖片 49" descr="一張含有 文字, 輪子, 美工圖案, 齒輪 的圖片&#10;&#10;自動產生的描述"/>
              <p:cNvPicPr>
                <a:picLocks noChangeAspect="1"/>
              </p:cNvPicPr>
              <p:nvPr/>
            </p:nvPicPr>
            <p:blipFill rotWithShape="1">
              <a:blip r:embed="rId2" cstate="print">
                <a:grayscl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3898"/>
              <a:stretch>
                <a:fillRect/>
              </a:stretch>
            </p:blipFill>
            <p:spPr>
              <a:xfrm rot="5400000">
                <a:off x="3709805" y="2875160"/>
                <a:ext cx="1281680" cy="110768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1" name="矩形 50"/>
              <p:cNvSpPr/>
              <p:nvPr/>
            </p:nvSpPr>
            <p:spPr>
              <a:xfrm>
                <a:off x="1831379" y="2819459"/>
                <a:ext cx="1703069" cy="13375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TW" sz="11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A4A4A4"/>
                    </a:solidFill>
                    <a:effectLst/>
                    <a:uLnTx/>
                    <a:uFillTx/>
                    <a:latin typeface="DengXian" panose="02010600030101010101" pitchFamily="2" charset="-122"/>
                    <a:ea typeface="DengXian" panose="02010600030101010101" pitchFamily="2" charset="-122"/>
                  </a:rPr>
                  <a:t>BG6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TW" sz="1100" b="1" dirty="0">
                    <a:solidFill>
                      <a:srgbClr val="A4A4A4"/>
                    </a:solidFill>
                    <a:latin typeface="DengXian" panose="02010600030101010101" pitchFamily="2" charset="-122"/>
                    <a:ea typeface="DengXian" panose="02010600030101010101" pitchFamily="2" charset="-122"/>
                  </a:rPr>
                  <a:t>PVN</a:t>
                </a:r>
                <a:endParaRPr kumimoji="0" lang="en-US" altLang="zh-TW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A4A4A4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</a:endParaRPr>
              </a:p>
            </p:txBody>
          </p:sp>
        </p:grpSp>
        <p:sp>
          <p:nvSpPr>
            <p:cNvPr id="46" name="文字方塊 45"/>
            <p:cNvSpPr txBox="1"/>
            <p:nvPr/>
          </p:nvSpPr>
          <p:spPr>
            <a:xfrm>
              <a:off x="1604962" y="196222"/>
              <a:ext cx="5431155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TW"/>
              </a:defPPr>
              <a:lvl1pPr defTabSz="837565">
                <a:defRPr sz="3200" b="1">
                  <a:solidFill>
                    <a:srgbClr val="2E9CC8"/>
                  </a:solidFill>
                  <a:latin typeface="DengXian" panose="02010600030101010101" pitchFamily="2" charset="-122"/>
                  <a:ea typeface="DengXian" panose="02010600030101010101" pitchFamily="2" charset="-122"/>
                </a:defRPr>
              </a:lvl1pPr>
            </a:lstStyle>
            <a:p>
              <a:r>
                <a:rPr lang="en-US" altLang="zh-TW" sz="2800" dirty="0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sym typeface="+mn-ea"/>
                </a:rPr>
                <a:t>Q1 –2026  Work Results</a:t>
              </a:r>
              <a:endParaRPr lang="en-US" altLang="zh-TW" sz="28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endParaRPr>
            </a:p>
          </p:txBody>
        </p:sp>
      </p:grp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1020898"/>
              </p:ext>
            </p:extLst>
          </p:nvPr>
        </p:nvGraphicFramePr>
        <p:xfrm>
          <a:off x="616856" y="1103004"/>
          <a:ext cx="11077303" cy="5073353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9036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736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33878">
                <a:tc>
                  <a:txBody>
                    <a:bodyPr/>
                    <a:lstStyle/>
                    <a:p>
                      <a:pPr algn="l"/>
                      <a:r>
                        <a:rPr lang="en-US" altLang="zh-TW" sz="1300" dirty="0" smtClean="0">
                          <a:latin typeface="+mn-lt"/>
                          <a:ea typeface="微軟正黑體" panose="020B0604030504040204" pitchFamily="34" charset="-120"/>
                        </a:rPr>
                        <a:t>Time</a:t>
                      </a:r>
                      <a:endParaRPr lang="zh-TW" altLang="en-US" sz="1300" dirty="0"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BA996E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1300" dirty="0" smtClean="0">
                          <a:latin typeface="+mn-lt"/>
                          <a:ea typeface="微軟正黑體" panose="020B0604030504040204" pitchFamily="34" charset="-120"/>
                        </a:rPr>
                        <a:t>Work Result</a:t>
                      </a:r>
                    </a:p>
                  </a:txBody>
                  <a:tcPr anchor="ctr">
                    <a:solidFill>
                      <a:srgbClr val="BA996E">
                        <a:alpha val="7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3878">
                <a:tc rowSpan="3">
                  <a:txBody>
                    <a:bodyPr/>
                    <a:lstStyle/>
                    <a:p>
                      <a:pPr algn="ctr"/>
                      <a:r>
                        <a:rPr lang="en-US" altLang="zh-TW" sz="1300" dirty="0">
                          <a:latin typeface="+mn-lt"/>
                          <a:cs typeface="Arial" panose="020B0604020202020204" pitchFamily="34" charset="0"/>
                        </a:rPr>
                        <a:t>2025</a:t>
                      </a:r>
                      <a:r>
                        <a:rPr lang="zh-TW" altLang="en-US" sz="1300" dirty="0">
                          <a:latin typeface="+mn-lt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TW" sz="1300" dirty="0" smtClean="0">
                          <a:latin typeface="+mn-lt"/>
                          <a:cs typeface="Arial" panose="020B0604020202020204" pitchFamily="34" charset="0"/>
                        </a:rPr>
                        <a:t>Q4</a:t>
                      </a:r>
                      <a:endParaRPr lang="zh-TW" altLang="en-US" sz="13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1300" dirty="0" smtClean="0">
                          <a:latin typeface="+mn-lt"/>
                          <a:cs typeface="Arial" panose="020B0604020202020204" pitchFamily="34" charset="0"/>
                        </a:rPr>
                        <a:t>1. Training new</a:t>
                      </a:r>
                      <a:r>
                        <a:rPr lang="en-US" altLang="zh-TW" sz="1300" baseline="0" dirty="0" smtClean="0">
                          <a:latin typeface="+mn-lt"/>
                          <a:cs typeface="Arial" panose="020B0604020202020204" pitchFamily="34" charset="0"/>
                        </a:rPr>
                        <a:t> AOI project (R30, CCX350 &amp; CCX400, ICX8100, USW-Flew8, USW-Flex5)</a:t>
                      </a:r>
                      <a:endParaRPr lang="zh-TW" altLang="en-US" sz="13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  <a:alpha val="7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387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1300" dirty="0" smtClean="0">
                          <a:latin typeface="+mn-lt"/>
                          <a:cs typeface="Arial" panose="020B0604020202020204" pitchFamily="34" charset="0"/>
                        </a:rPr>
                        <a:t>2. Make sure</a:t>
                      </a:r>
                      <a:r>
                        <a:rPr lang="en-US" altLang="zh-TW" sz="1300" baseline="0" dirty="0" smtClean="0">
                          <a:latin typeface="+mn-lt"/>
                          <a:cs typeface="Arial" panose="020B0604020202020204" pitchFamily="34" charset="0"/>
                        </a:rPr>
                        <a:t> the good performance operation of the AOI machine( above 95%)</a:t>
                      </a:r>
                    </a:p>
                  </a:txBody>
                  <a:tcPr anchor="ctr">
                    <a:solidFill>
                      <a:schemeClr val="bg1">
                        <a:alpha val="7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008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>
                        <a:lumMod val="85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1300" dirty="0" smtClean="0">
                          <a:latin typeface="+mn-lt"/>
                          <a:cs typeface="Arial" panose="020B0604020202020204" pitchFamily="34" charset="0"/>
                        </a:rPr>
                        <a:t>3.</a:t>
                      </a:r>
                      <a:r>
                        <a:rPr lang="en-US" altLang="zh-TW" sz="1300" baseline="0" dirty="0" smtClean="0">
                          <a:latin typeface="+mn-lt"/>
                          <a:cs typeface="Arial" panose="020B0604020202020204" pitchFamily="34" charset="0"/>
                        </a:rPr>
                        <a:t> Operate new AOI device</a:t>
                      </a:r>
                      <a:endParaRPr lang="zh-TW" altLang="en-US" sz="13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  <a:alpha val="7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3878">
                <a:tc rowSpan="3">
                  <a:txBody>
                    <a:bodyPr/>
                    <a:lstStyle/>
                    <a:p>
                      <a:pPr algn="ctr"/>
                      <a:r>
                        <a:rPr lang="en-US" altLang="zh-TW" sz="1300" dirty="0" smtClean="0">
                          <a:latin typeface="+mn-lt"/>
                          <a:cs typeface="Arial" panose="020B0604020202020204" pitchFamily="34" charset="0"/>
                        </a:rPr>
                        <a:t>2026</a:t>
                      </a:r>
                      <a:r>
                        <a:rPr lang="zh-TW" altLang="en-US" sz="1300" dirty="0" smtClean="0">
                          <a:latin typeface="+mn-lt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TW" sz="1300" dirty="0" smtClean="0">
                          <a:latin typeface="+mn-lt"/>
                          <a:cs typeface="Arial" panose="020B0604020202020204" pitchFamily="34" charset="0"/>
                        </a:rPr>
                        <a:t>Q1</a:t>
                      </a:r>
                      <a:endParaRPr lang="zh-TW" altLang="en-US" sz="13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1300" dirty="0" smtClean="0">
                          <a:latin typeface="+mn-lt"/>
                          <a:cs typeface="Arial" panose="020B0604020202020204" pitchFamily="34" charset="0"/>
                        </a:rPr>
                        <a:t>1. Complete setting and </a:t>
                      </a:r>
                      <a:r>
                        <a:rPr lang="en-US" altLang="zh-TW" sz="1300" baseline="0" dirty="0" smtClean="0">
                          <a:latin typeface="+mn-lt"/>
                          <a:cs typeface="Arial" panose="020B0604020202020204" pitchFamily="34" charset="0"/>
                        </a:rPr>
                        <a:t>new project USW-Flew8, USW-Flew5 on production line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  <a:alpha val="7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3387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1300" dirty="0" smtClean="0">
                          <a:latin typeface="+mn-lt"/>
                          <a:cs typeface="Arial" panose="020B0604020202020204" pitchFamily="34" charset="0"/>
                        </a:rPr>
                        <a:t>2. Testing</a:t>
                      </a:r>
                      <a:r>
                        <a:rPr lang="en-US" altLang="zh-TW" sz="1300" baseline="0" dirty="0" smtClean="0">
                          <a:latin typeface="+mn-lt"/>
                          <a:cs typeface="Arial" panose="020B0604020202020204" pitchFamily="34" charset="0"/>
                        </a:rPr>
                        <a:t> new AOI project ICX8100</a:t>
                      </a:r>
                      <a:endParaRPr lang="zh-TW" altLang="en-US" sz="13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alpha val="7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3387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>
                        <a:lumMod val="85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1300" dirty="0" smtClean="0">
                          <a:latin typeface="+mn-lt"/>
                          <a:cs typeface="Arial" panose="020B0604020202020204" pitchFamily="34" charset="0"/>
                        </a:rPr>
                        <a:t>3. Running AOI machine on</a:t>
                      </a:r>
                      <a:r>
                        <a:rPr lang="en-US" altLang="zh-TW" sz="1300" baseline="0" dirty="0" smtClean="0">
                          <a:latin typeface="+mn-lt"/>
                          <a:cs typeface="Arial" panose="020B0604020202020204" pitchFamily="34" charset="0"/>
                        </a:rPr>
                        <a:t> production line</a:t>
                      </a:r>
                      <a:endParaRPr lang="zh-TW" altLang="en-US" sz="13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  <a:alpha val="7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324176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群組 2"/>
          <p:cNvGrpSpPr/>
          <p:nvPr/>
        </p:nvGrpSpPr>
        <p:grpSpPr>
          <a:xfrm>
            <a:off x="11145334" y="6021230"/>
            <a:ext cx="1058632" cy="775686"/>
            <a:chOff x="1633100" y="4132365"/>
            <a:chExt cx="419208" cy="307164"/>
          </a:xfrm>
        </p:grpSpPr>
        <p:sp>
          <p:nvSpPr>
            <p:cNvPr id="4" name="Oval 21"/>
            <p:cNvSpPr/>
            <p:nvPr/>
          </p:nvSpPr>
          <p:spPr>
            <a:xfrm rot="20111049">
              <a:off x="1633100" y="4132365"/>
              <a:ext cx="301450" cy="254502"/>
            </a:xfrm>
            <a:custGeom>
              <a:avLst/>
              <a:gdLst/>
              <a:ahLst/>
              <a:cxnLst/>
              <a:rect l="l" t="t" r="r" b="b"/>
              <a:pathLst>
                <a:path w="4088377" h="3321003">
                  <a:moveTo>
                    <a:pt x="1365628" y="1622218"/>
                  </a:moveTo>
                  <a:cubicBezTo>
                    <a:pt x="1121373" y="1556771"/>
                    <a:pt x="870309" y="1701722"/>
                    <a:pt x="804861" y="1945977"/>
                  </a:cubicBezTo>
                  <a:cubicBezTo>
                    <a:pt x="739413" y="2190232"/>
                    <a:pt x="884365" y="2441296"/>
                    <a:pt x="1128620" y="2506744"/>
                  </a:cubicBezTo>
                  <a:cubicBezTo>
                    <a:pt x="1372875" y="2572191"/>
                    <a:pt x="1623939" y="2427240"/>
                    <a:pt x="1689387" y="2182985"/>
                  </a:cubicBezTo>
                  <a:cubicBezTo>
                    <a:pt x="1754835" y="1938730"/>
                    <a:pt x="1609883" y="1687666"/>
                    <a:pt x="1365628" y="1622218"/>
                  </a:cubicBezTo>
                  <a:close/>
                  <a:moveTo>
                    <a:pt x="1447099" y="1318163"/>
                  </a:moveTo>
                  <a:cubicBezTo>
                    <a:pt x="1859279" y="1428606"/>
                    <a:pt x="2103885" y="1852277"/>
                    <a:pt x="1993442" y="2264456"/>
                  </a:cubicBezTo>
                  <a:cubicBezTo>
                    <a:pt x="1882999" y="2676636"/>
                    <a:pt x="1459328" y="2921242"/>
                    <a:pt x="1047149" y="2810799"/>
                  </a:cubicBezTo>
                  <a:cubicBezTo>
                    <a:pt x="634969" y="2700356"/>
                    <a:pt x="390363" y="2276685"/>
                    <a:pt x="500806" y="1864505"/>
                  </a:cubicBezTo>
                  <a:cubicBezTo>
                    <a:pt x="611249" y="1452326"/>
                    <a:pt x="1034920" y="1207720"/>
                    <a:pt x="1447099" y="1318163"/>
                  </a:cubicBezTo>
                  <a:close/>
                  <a:moveTo>
                    <a:pt x="1476725" y="1207597"/>
                  </a:moveTo>
                  <a:cubicBezTo>
                    <a:pt x="1003481" y="1080792"/>
                    <a:pt x="517045" y="1361635"/>
                    <a:pt x="390240" y="1834879"/>
                  </a:cubicBezTo>
                  <a:cubicBezTo>
                    <a:pt x="263435" y="2308124"/>
                    <a:pt x="544279" y="2794559"/>
                    <a:pt x="1017523" y="2921365"/>
                  </a:cubicBezTo>
                  <a:cubicBezTo>
                    <a:pt x="1490767" y="3048170"/>
                    <a:pt x="1977202" y="2767326"/>
                    <a:pt x="2104008" y="2294082"/>
                  </a:cubicBezTo>
                  <a:cubicBezTo>
                    <a:pt x="2230813" y="1820838"/>
                    <a:pt x="1949969" y="1334403"/>
                    <a:pt x="1476725" y="1207597"/>
                  </a:cubicBezTo>
                  <a:close/>
                  <a:moveTo>
                    <a:pt x="3290290" y="1590224"/>
                  </a:moveTo>
                  <a:cubicBezTo>
                    <a:pt x="3269727" y="1586016"/>
                    <a:pt x="3248437" y="1583806"/>
                    <a:pt x="3226630" y="1583806"/>
                  </a:cubicBezTo>
                  <a:cubicBezTo>
                    <a:pt x="3052179" y="1583806"/>
                    <a:pt x="2910758" y="1725227"/>
                    <a:pt x="2910758" y="1899678"/>
                  </a:cubicBezTo>
                  <a:cubicBezTo>
                    <a:pt x="2910758" y="2074130"/>
                    <a:pt x="3052179" y="2215551"/>
                    <a:pt x="3226630" y="2215550"/>
                  </a:cubicBezTo>
                  <a:cubicBezTo>
                    <a:pt x="3401082" y="2215551"/>
                    <a:pt x="3542503" y="2074130"/>
                    <a:pt x="3542502" y="1899678"/>
                  </a:cubicBezTo>
                  <a:cubicBezTo>
                    <a:pt x="3542503" y="1747033"/>
                    <a:pt x="3434228" y="1619677"/>
                    <a:pt x="3290290" y="1590224"/>
                  </a:cubicBezTo>
                  <a:close/>
                  <a:moveTo>
                    <a:pt x="3334055" y="1377473"/>
                  </a:moveTo>
                  <a:cubicBezTo>
                    <a:pt x="3576950" y="1427177"/>
                    <a:pt x="3759665" y="1642090"/>
                    <a:pt x="3759665" y="1899678"/>
                  </a:cubicBezTo>
                  <a:cubicBezTo>
                    <a:pt x="3759665" y="2194064"/>
                    <a:pt x="3521017" y="2432713"/>
                    <a:pt x="3226630" y="2432713"/>
                  </a:cubicBezTo>
                  <a:cubicBezTo>
                    <a:pt x="2932244" y="2432712"/>
                    <a:pt x="2693596" y="2194065"/>
                    <a:pt x="2693596" y="1899678"/>
                  </a:cubicBezTo>
                  <a:cubicBezTo>
                    <a:pt x="2693596" y="1605292"/>
                    <a:pt x="2932244" y="1366644"/>
                    <a:pt x="3226630" y="1366644"/>
                  </a:cubicBezTo>
                  <a:cubicBezTo>
                    <a:pt x="3263429" y="1366644"/>
                    <a:pt x="3299356" y="1370373"/>
                    <a:pt x="3334055" y="1377473"/>
                  </a:cubicBezTo>
                  <a:close/>
                  <a:moveTo>
                    <a:pt x="1391137" y="789478"/>
                  </a:moveTo>
                  <a:lnTo>
                    <a:pt x="1759910" y="888290"/>
                  </a:lnTo>
                  <a:lnTo>
                    <a:pt x="1754625" y="1202375"/>
                  </a:lnTo>
                  <a:lnTo>
                    <a:pt x="1744979" y="1199790"/>
                  </a:lnTo>
                  <a:cubicBezTo>
                    <a:pt x="1823578" y="1244024"/>
                    <a:pt x="1894617" y="1298265"/>
                    <a:pt x="1954704" y="1362586"/>
                  </a:cubicBezTo>
                  <a:lnTo>
                    <a:pt x="2234317" y="1293059"/>
                  </a:lnTo>
                  <a:lnTo>
                    <a:pt x="2413554" y="1630152"/>
                  </a:lnTo>
                  <a:lnTo>
                    <a:pt x="2214321" y="1809770"/>
                  </a:lnTo>
                  <a:cubicBezTo>
                    <a:pt x="2239296" y="1900740"/>
                    <a:pt x="2251067" y="1995997"/>
                    <a:pt x="2246841" y="2092825"/>
                  </a:cubicBezTo>
                  <a:lnTo>
                    <a:pt x="2495698" y="2230974"/>
                  </a:lnTo>
                  <a:lnTo>
                    <a:pt x="2396885" y="2599747"/>
                  </a:lnTo>
                  <a:lnTo>
                    <a:pt x="2094912" y="2594668"/>
                  </a:lnTo>
                  <a:cubicBezTo>
                    <a:pt x="2056732" y="2658461"/>
                    <a:pt x="2010475" y="2715996"/>
                    <a:pt x="1958644" y="2767359"/>
                  </a:cubicBezTo>
                  <a:lnTo>
                    <a:pt x="2057814" y="3026193"/>
                  </a:lnTo>
                  <a:lnTo>
                    <a:pt x="1745078" y="3245174"/>
                  </a:lnTo>
                  <a:lnTo>
                    <a:pt x="1507869" y="3039237"/>
                  </a:lnTo>
                  <a:lnTo>
                    <a:pt x="1536736" y="3019025"/>
                  </a:lnTo>
                  <a:cubicBezTo>
                    <a:pt x="1445878" y="3048429"/>
                    <a:pt x="1349798" y="3062567"/>
                    <a:pt x="1251837" y="3062021"/>
                  </a:cubicBezTo>
                  <a:lnTo>
                    <a:pt x="1108065" y="3321003"/>
                  </a:lnTo>
                  <a:lnTo>
                    <a:pt x="739291" y="3222191"/>
                  </a:lnTo>
                  <a:lnTo>
                    <a:pt x="744274" y="2926021"/>
                  </a:lnTo>
                  <a:cubicBezTo>
                    <a:pt x="666128" y="2881484"/>
                    <a:pt x="595548" y="2827017"/>
                    <a:pt x="535891" y="2762576"/>
                  </a:cubicBezTo>
                  <a:lnTo>
                    <a:pt x="540671" y="2772825"/>
                  </a:lnTo>
                  <a:lnTo>
                    <a:pt x="232276" y="2832568"/>
                  </a:lnTo>
                  <a:lnTo>
                    <a:pt x="70927" y="2486556"/>
                  </a:lnTo>
                  <a:lnTo>
                    <a:pt x="279495" y="2317444"/>
                  </a:lnTo>
                  <a:cubicBezTo>
                    <a:pt x="257233" y="2235849"/>
                    <a:pt x="245603" y="2150814"/>
                    <a:pt x="245586" y="2064274"/>
                  </a:cubicBezTo>
                  <a:lnTo>
                    <a:pt x="0" y="1927940"/>
                  </a:lnTo>
                  <a:lnTo>
                    <a:pt x="98812" y="1559167"/>
                  </a:lnTo>
                  <a:lnTo>
                    <a:pt x="380240" y="1563901"/>
                  </a:lnTo>
                  <a:cubicBezTo>
                    <a:pt x="418421" y="1496524"/>
                    <a:pt x="464524" y="1435092"/>
                    <a:pt x="516679" y="1380105"/>
                  </a:cubicBezTo>
                  <a:lnTo>
                    <a:pt x="422419" y="1089378"/>
                  </a:lnTo>
                  <a:lnTo>
                    <a:pt x="746189" y="887063"/>
                  </a:lnTo>
                  <a:lnTo>
                    <a:pt x="972292" y="1105134"/>
                  </a:lnTo>
                  <a:lnTo>
                    <a:pt x="970019" y="1106554"/>
                  </a:lnTo>
                  <a:cubicBezTo>
                    <a:pt x="1058903" y="1078586"/>
                    <a:pt x="1152743" y="1065659"/>
                    <a:pt x="1248316" y="1066709"/>
                  </a:cubicBezTo>
                  <a:lnTo>
                    <a:pt x="1238669" y="1064125"/>
                  </a:lnTo>
                  <a:close/>
                  <a:moveTo>
                    <a:pt x="3349970" y="1300109"/>
                  </a:moveTo>
                  <a:cubicBezTo>
                    <a:pt x="3310130" y="1291957"/>
                    <a:pt x="3268880" y="1287676"/>
                    <a:pt x="3226630" y="1287676"/>
                  </a:cubicBezTo>
                  <a:cubicBezTo>
                    <a:pt x="2888631" y="1287676"/>
                    <a:pt x="2614628" y="1561679"/>
                    <a:pt x="2614628" y="1899678"/>
                  </a:cubicBezTo>
                  <a:cubicBezTo>
                    <a:pt x="2614628" y="2237678"/>
                    <a:pt x="2888630" y="2511680"/>
                    <a:pt x="3226630" y="2511681"/>
                  </a:cubicBezTo>
                  <a:cubicBezTo>
                    <a:pt x="3564630" y="2511681"/>
                    <a:pt x="3838633" y="2237678"/>
                    <a:pt x="3838633" y="1899678"/>
                  </a:cubicBezTo>
                  <a:cubicBezTo>
                    <a:pt x="3838632" y="1603928"/>
                    <a:pt x="3628849" y="1357176"/>
                    <a:pt x="3349970" y="1300109"/>
                  </a:cubicBezTo>
                  <a:close/>
                  <a:moveTo>
                    <a:pt x="3358324" y="1024334"/>
                  </a:moveTo>
                  <a:lnTo>
                    <a:pt x="3410883" y="1234575"/>
                  </a:lnTo>
                  <a:lnTo>
                    <a:pt x="3403994" y="1234575"/>
                  </a:lnTo>
                  <a:cubicBezTo>
                    <a:pt x="3464268" y="1250018"/>
                    <a:pt x="3521292" y="1273478"/>
                    <a:pt x="3572818" y="1305612"/>
                  </a:cubicBezTo>
                  <a:lnTo>
                    <a:pt x="3746730" y="1209354"/>
                  </a:lnTo>
                  <a:lnTo>
                    <a:pt x="3926358" y="1401981"/>
                  </a:lnTo>
                  <a:lnTo>
                    <a:pt x="3825667" y="1557247"/>
                  </a:lnTo>
                  <a:cubicBezTo>
                    <a:pt x="3858552" y="1613408"/>
                    <a:pt x="3883404" y="1674784"/>
                    <a:pt x="3897877" y="1740062"/>
                  </a:cubicBezTo>
                  <a:lnTo>
                    <a:pt x="4088377" y="1787686"/>
                  </a:lnTo>
                  <a:lnTo>
                    <a:pt x="4088377" y="2051071"/>
                  </a:lnTo>
                  <a:lnTo>
                    <a:pt x="3886243" y="2101605"/>
                  </a:lnTo>
                  <a:cubicBezTo>
                    <a:pt x="3872191" y="2150933"/>
                    <a:pt x="3851639" y="2197531"/>
                    <a:pt x="3826272" y="2241013"/>
                  </a:cubicBezTo>
                  <a:lnTo>
                    <a:pt x="3938572" y="2395786"/>
                  </a:lnTo>
                  <a:lnTo>
                    <a:pt x="3769272" y="2597551"/>
                  </a:lnTo>
                  <a:lnTo>
                    <a:pt x="3574432" y="2502674"/>
                  </a:lnTo>
                  <a:lnTo>
                    <a:pt x="3590059" y="2484050"/>
                  </a:lnTo>
                  <a:cubicBezTo>
                    <a:pt x="3534764" y="2519868"/>
                    <a:pt x="3473263" y="2546445"/>
                    <a:pt x="3407886" y="2563572"/>
                  </a:cubicBezTo>
                  <a:lnTo>
                    <a:pt x="3358323" y="2761823"/>
                  </a:lnTo>
                  <a:lnTo>
                    <a:pt x="3094938" y="2761823"/>
                  </a:lnTo>
                  <a:lnTo>
                    <a:pt x="3045375" y="2563574"/>
                  </a:lnTo>
                  <a:cubicBezTo>
                    <a:pt x="2985349" y="2547848"/>
                    <a:pt x="2928591" y="2524155"/>
                    <a:pt x="2877330" y="2491865"/>
                  </a:cubicBezTo>
                  <a:lnTo>
                    <a:pt x="2882346" y="2497841"/>
                  </a:lnTo>
                  <a:lnTo>
                    <a:pt x="2687507" y="2592718"/>
                  </a:lnTo>
                  <a:lnTo>
                    <a:pt x="2518206" y="2390954"/>
                  </a:lnTo>
                  <a:lnTo>
                    <a:pt x="2626994" y="2241021"/>
                  </a:lnTo>
                  <a:cubicBezTo>
                    <a:pt x="2597591" y="2190623"/>
                    <a:pt x="2574657" y="2136035"/>
                    <a:pt x="2559194" y="2078370"/>
                  </a:cubicBezTo>
                  <a:lnTo>
                    <a:pt x="2371198" y="2031371"/>
                  </a:lnTo>
                  <a:lnTo>
                    <a:pt x="2371198" y="1767986"/>
                  </a:lnTo>
                  <a:lnTo>
                    <a:pt x="2559579" y="1720890"/>
                  </a:lnTo>
                  <a:cubicBezTo>
                    <a:pt x="2572992" y="1669175"/>
                    <a:pt x="2592745" y="1620006"/>
                    <a:pt x="2617681" y="1574051"/>
                  </a:cubicBezTo>
                  <a:lnTo>
                    <a:pt x="2502958" y="1397149"/>
                  </a:lnTo>
                  <a:lnTo>
                    <a:pt x="2682587" y="1204520"/>
                  </a:lnTo>
                  <a:lnTo>
                    <a:pt x="2872193" y="1309466"/>
                  </a:lnTo>
                  <a:lnTo>
                    <a:pt x="2870932" y="1310818"/>
                  </a:lnTo>
                  <a:cubicBezTo>
                    <a:pt x="2925169" y="1276310"/>
                    <a:pt x="2985393" y="1250941"/>
                    <a:pt x="3049268" y="1234575"/>
                  </a:cubicBezTo>
                  <a:lnTo>
                    <a:pt x="3042378" y="1234576"/>
                  </a:lnTo>
                  <a:lnTo>
                    <a:pt x="3094939" y="1024334"/>
                  </a:lnTo>
                  <a:close/>
                  <a:moveTo>
                    <a:pt x="2786480" y="402820"/>
                  </a:moveTo>
                  <a:cubicBezTo>
                    <a:pt x="2745900" y="389943"/>
                    <a:pt x="2701172" y="388627"/>
                    <a:pt x="2657264" y="401580"/>
                  </a:cubicBezTo>
                  <a:cubicBezTo>
                    <a:pt x="2540176" y="436121"/>
                    <a:pt x="2473258" y="559041"/>
                    <a:pt x="2507800" y="676128"/>
                  </a:cubicBezTo>
                  <a:cubicBezTo>
                    <a:pt x="2542340" y="793216"/>
                    <a:pt x="2665260" y="860133"/>
                    <a:pt x="2782348" y="825592"/>
                  </a:cubicBezTo>
                  <a:cubicBezTo>
                    <a:pt x="2899435" y="791051"/>
                    <a:pt x="2966353" y="668132"/>
                    <a:pt x="2931812" y="551045"/>
                  </a:cubicBezTo>
                  <a:cubicBezTo>
                    <a:pt x="2910223" y="477864"/>
                    <a:pt x="2854113" y="424282"/>
                    <a:pt x="2786480" y="402820"/>
                  </a:cubicBezTo>
                  <a:close/>
                  <a:moveTo>
                    <a:pt x="2932202" y="47278"/>
                  </a:moveTo>
                  <a:lnTo>
                    <a:pt x="3090904" y="140999"/>
                  </a:lnTo>
                  <a:lnTo>
                    <a:pt x="3054065" y="265147"/>
                  </a:lnTo>
                  <a:cubicBezTo>
                    <a:pt x="3087256" y="296329"/>
                    <a:pt x="3116089" y="332603"/>
                    <a:pt x="3138727" y="373550"/>
                  </a:cubicBezTo>
                  <a:lnTo>
                    <a:pt x="3276016" y="367796"/>
                  </a:lnTo>
                  <a:lnTo>
                    <a:pt x="3328165" y="544574"/>
                  </a:lnTo>
                  <a:lnTo>
                    <a:pt x="3202503" y="618514"/>
                  </a:lnTo>
                  <a:cubicBezTo>
                    <a:pt x="3202838" y="654403"/>
                    <a:pt x="3198271" y="689748"/>
                    <a:pt x="3189855" y="723955"/>
                  </a:cubicBezTo>
                  <a:lnTo>
                    <a:pt x="3295873" y="805599"/>
                  </a:lnTo>
                  <a:lnTo>
                    <a:pt x="3222192" y="974540"/>
                  </a:lnTo>
                  <a:lnTo>
                    <a:pt x="3072634" y="949439"/>
                  </a:lnTo>
                  <a:lnTo>
                    <a:pt x="3079435" y="933845"/>
                  </a:lnTo>
                  <a:cubicBezTo>
                    <a:pt x="3049413" y="968833"/>
                    <a:pt x="3013398" y="998848"/>
                    <a:pt x="2972910" y="1023288"/>
                  </a:cubicBezTo>
                  <a:lnTo>
                    <a:pt x="2978897" y="1166163"/>
                  </a:lnTo>
                  <a:lnTo>
                    <a:pt x="2802119" y="1218312"/>
                  </a:lnTo>
                  <a:lnTo>
                    <a:pt x="2729602" y="1095065"/>
                  </a:lnTo>
                  <a:cubicBezTo>
                    <a:pt x="2686199" y="1096396"/>
                    <a:pt x="2643414" y="1091732"/>
                    <a:pt x="2602615" y="1080209"/>
                  </a:cubicBezTo>
                  <a:lnTo>
                    <a:pt x="2607165" y="1083226"/>
                  </a:lnTo>
                  <a:lnTo>
                    <a:pt x="2495179" y="1185484"/>
                  </a:lnTo>
                  <a:lnTo>
                    <a:pt x="2341599" y="1083585"/>
                  </a:lnTo>
                  <a:lnTo>
                    <a:pt x="2384929" y="961414"/>
                  </a:lnTo>
                  <a:cubicBezTo>
                    <a:pt x="2355215" y="933409"/>
                    <a:pt x="2329015" y="901312"/>
                    <a:pt x="2307218" y="865670"/>
                  </a:cubicBezTo>
                  <a:lnTo>
                    <a:pt x="2171734" y="871348"/>
                  </a:lnTo>
                  <a:lnTo>
                    <a:pt x="2119584" y="694571"/>
                  </a:lnTo>
                  <a:lnTo>
                    <a:pt x="2236697" y="625662"/>
                  </a:lnTo>
                  <a:cubicBezTo>
                    <a:pt x="2235459" y="588297"/>
                    <a:pt x="2238982" y="551385"/>
                    <a:pt x="2246620" y="515603"/>
                  </a:cubicBezTo>
                  <a:lnTo>
                    <a:pt x="2134594" y="419585"/>
                  </a:lnTo>
                  <a:lnTo>
                    <a:pt x="2217016" y="254732"/>
                  </a:lnTo>
                  <a:lnTo>
                    <a:pt x="2365055" y="287627"/>
                  </a:lnTo>
                  <a:lnTo>
                    <a:pt x="2364476" y="288784"/>
                  </a:lnTo>
                  <a:cubicBezTo>
                    <a:pt x="2394046" y="254885"/>
                    <a:pt x="2429444" y="225933"/>
                    <a:pt x="2469075" y="202302"/>
                  </a:cubicBezTo>
                  <a:lnTo>
                    <a:pt x="2464452" y="203666"/>
                  </a:lnTo>
                  <a:lnTo>
                    <a:pt x="2458102" y="52150"/>
                  </a:lnTo>
                  <a:lnTo>
                    <a:pt x="2634880" y="0"/>
                  </a:lnTo>
                  <a:lnTo>
                    <a:pt x="2711784" y="130703"/>
                  </a:lnTo>
                  <a:lnTo>
                    <a:pt x="2707159" y="132067"/>
                  </a:lnTo>
                  <a:cubicBezTo>
                    <a:pt x="2750672" y="130497"/>
                    <a:pt x="2793590" y="134953"/>
                    <a:pt x="2834535" y="146319"/>
                  </a:cubicBezTo>
                  <a:close/>
                </a:path>
              </a:pathLst>
            </a:custGeom>
            <a:solidFill>
              <a:schemeClr val="bg1"/>
            </a:solidFill>
            <a:ln w="3175">
              <a:solidFill>
                <a:schemeClr val="bg2">
                  <a:lumMod val="75000"/>
                </a:schemeClr>
              </a:solidFill>
            </a:ln>
            <a:effectLst>
              <a:outerShdw blurRad="50800" dist="38100" dir="8100000" sx="97000" sy="97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ko-KR" altLang="en-US" sz="2700">
                <a:solidFill>
                  <a:schemeClr val="bg1"/>
                </a:solidFill>
              </a:endParaRPr>
            </a:p>
          </p:txBody>
        </p:sp>
        <p:grpSp>
          <p:nvGrpSpPr>
            <p:cNvPr id="6" name="群組 5"/>
            <p:cNvGrpSpPr/>
            <p:nvPr/>
          </p:nvGrpSpPr>
          <p:grpSpPr>
            <a:xfrm>
              <a:off x="1727685" y="4270681"/>
              <a:ext cx="324623" cy="168848"/>
              <a:chOff x="2114400" y="4249726"/>
              <a:chExt cx="324623" cy="168848"/>
            </a:xfrm>
          </p:grpSpPr>
          <p:sp>
            <p:nvSpPr>
              <p:cNvPr id="7" name="文字方塊 6"/>
              <p:cNvSpPr txBox="1"/>
              <p:nvPr/>
            </p:nvSpPr>
            <p:spPr>
              <a:xfrm>
                <a:off x="2114400" y="4249726"/>
                <a:ext cx="280467" cy="1462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b="1" dirty="0">
                    <a:ln w="3175">
                      <a:solidFill>
                        <a:schemeClr val="bg2">
                          <a:lumMod val="5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masis MT Pro Black" panose="020F0502020204030204" pitchFamily="18" charset="0"/>
                    <a:cs typeface="Arial" panose="020B0604020202020204" pitchFamily="34" charset="0"/>
                  </a:rPr>
                  <a:t>FME</a:t>
                </a:r>
                <a:endParaRPr lang="zh-TW" altLang="en-US" b="1" dirty="0">
                  <a:ln w="3175">
                    <a:solidFill>
                      <a:schemeClr val="bg2">
                        <a:lumMod val="50000"/>
                      </a:schemeClr>
                    </a:solidFill>
                  </a:ln>
                  <a:solidFill>
                    <a:schemeClr val="bg1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  <a:latin typeface="Amasis MT Pro Black" panose="020F05020202040302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" name="文字方塊 7"/>
              <p:cNvSpPr txBox="1"/>
              <p:nvPr/>
            </p:nvSpPr>
            <p:spPr>
              <a:xfrm>
                <a:off x="2131213" y="4333260"/>
                <a:ext cx="307810" cy="853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800" b="1" dirty="0">
                    <a:ln w="3175">
                      <a:noFill/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BG6</a:t>
                </a:r>
                <a:r>
                  <a:rPr lang="zh-TW" altLang="en-US" sz="800" b="1" dirty="0">
                    <a:ln w="3175">
                      <a:noFill/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TW" sz="800" b="1" dirty="0">
                    <a:ln w="0">
                      <a:noFill/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PVN</a:t>
                </a:r>
                <a:endParaRPr lang="zh-TW" altLang="en-US" sz="800" b="1" dirty="0">
                  <a:ln w="0">
                    <a:noFill/>
                  </a:ln>
                  <a:solidFill>
                    <a:schemeClr val="bg1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43" name="群組 42"/>
          <p:cNvGrpSpPr/>
          <p:nvPr/>
        </p:nvGrpSpPr>
        <p:grpSpPr>
          <a:xfrm>
            <a:off x="195262" y="178409"/>
            <a:ext cx="11801476" cy="588751"/>
            <a:chOff x="195262" y="163202"/>
            <a:chExt cx="11801476" cy="588751"/>
          </a:xfrm>
        </p:grpSpPr>
        <p:sp>
          <p:nvSpPr>
            <p:cNvPr id="44" name="矩形: 圓角 43"/>
            <p:cNvSpPr/>
            <p:nvPr/>
          </p:nvSpPr>
          <p:spPr>
            <a:xfrm>
              <a:off x="195262" y="247970"/>
              <a:ext cx="11801476" cy="419217"/>
            </a:xfrm>
            <a:prstGeom prst="roundRect">
              <a:avLst>
                <a:gd name="adj" fmla="val 40804"/>
              </a:avLst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8000">
                  <a:schemeClr val="tx1">
                    <a:lumMod val="50000"/>
                    <a:lumOff val="50000"/>
                  </a:schemeClr>
                </a:gs>
                <a:gs pos="83000">
                  <a:schemeClr val="tx1">
                    <a:lumMod val="75000"/>
                    <a:lumOff val="25000"/>
                  </a:schemeClr>
                </a:gs>
                <a:gs pos="100000">
                  <a:schemeClr val="tx1">
                    <a:lumMod val="75000"/>
                    <a:lumOff val="25000"/>
                  </a:schemeClr>
                </a:gs>
              </a:gsLst>
              <a:lin ang="0" scaled="1"/>
              <a:tileRect/>
            </a:gradFill>
            <a:ln w="381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grpSp>
          <p:nvGrpSpPr>
            <p:cNvPr id="45" name="群組 44"/>
            <p:cNvGrpSpPr/>
            <p:nvPr/>
          </p:nvGrpSpPr>
          <p:grpSpPr>
            <a:xfrm>
              <a:off x="600729" y="163202"/>
              <a:ext cx="1038687" cy="588751"/>
              <a:chOff x="1782913" y="2529000"/>
              <a:chExt cx="3121572" cy="1800001"/>
            </a:xfrm>
          </p:grpSpPr>
          <p:sp>
            <p:nvSpPr>
              <p:cNvPr id="48" name="圆角矩形 15"/>
              <p:cNvSpPr/>
              <p:nvPr/>
            </p:nvSpPr>
            <p:spPr>
              <a:xfrm rot="2700000">
                <a:off x="1857839" y="2529000"/>
                <a:ext cx="1800000" cy="1800001"/>
              </a:xfrm>
              <a:prstGeom prst="roundRect">
                <a:avLst/>
              </a:prstGeom>
              <a:solidFill>
                <a:srgbClr val="34B2E4"/>
              </a:solidFill>
              <a:ln>
                <a:noFill/>
              </a:ln>
              <a:effectLst>
                <a:outerShdw blurRad="127000" algn="ctr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  <a:cs typeface="+mn-ea"/>
                  <a:sym typeface="+mn-lt"/>
                </a:endParaRPr>
              </a:p>
            </p:txBody>
          </p:sp>
          <p:sp>
            <p:nvSpPr>
              <p:cNvPr id="49" name="圆角矩形 16"/>
              <p:cNvSpPr/>
              <p:nvPr/>
            </p:nvSpPr>
            <p:spPr>
              <a:xfrm rot="2700000">
                <a:off x="1782913" y="2529000"/>
                <a:ext cx="1800000" cy="1800000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190500" algn="ctr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  <a:cs typeface="+mn-ea"/>
                  <a:sym typeface="+mn-lt"/>
                </a:endParaRPr>
              </a:p>
            </p:txBody>
          </p:sp>
          <p:pic>
            <p:nvPicPr>
              <p:cNvPr id="50" name="圖片 49" descr="一張含有 文字, 輪子, 美工圖案, 齒輪 的圖片&#10;&#10;自動產生的描述"/>
              <p:cNvPicPr>
                <a:picLocks noChangeAspect="1"/>
              </p:cNvPicPr>
              <p:nvPr/>
            </p:nvPicPr>
            <p:blipFill rotWithShape="1">
              <a:blip r:embed="rId2" cstate="print">
                <a:grayscl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3898"/>
              <a:stretch>
                <a:fillRect/>
              </a:stretch>
            </p:blipFill>
            <p:spPr>
              <a:xfrm rot="5400000">
                <a:off x="3709805" y="2875160"/>
                <a:ext cx="1281680" cy="110768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1" name="矩形 50"/>
              <p:cNvSpPr/>
              <p:nvPr/>
            </p:nvSpPr>
            <p:spPr>
              <a:xfrm>
                <a:off x="1831379" y="2819459"/>
                <a:ext cx="1703069" cy="13375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TW" sz="11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A4A4A4"/>
                    </a:solidFill>
                    <a:effectLst/>
                    <a:uLnTx/>
                    <a:uFillTx/>
                    <a:latin typeface="DengXian" panose="02010600030101010101" pitchFamily="2" charset="-122"/>
                    <a:ea typeface="DengXian" panose="02010600030101010101" pitchFamily="2" charset="-122"/>
                  </a:rPr>
                  <a:t>BG6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TW" sz="1100" b="1" dirty="0">
                    <a:solidFill>
                      <a:srgbClr val="A4A4A4"/>
                    </a:solidFill>
                    <a:latin typeface="DengXian" panose="02010600030101010101" pitchFamily="2" charset="-122"/>
                    <a:ea typeface="DengXian" panose="02010600030101010101" pitchFamily="2" charset="-122"/>
                  </a:rPr>
                  <a:t>PVN</a:t>
                </a:r>
                <a:endParaRPr kumimoji="0" lang="en-US" altLang="zh-TW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A4A4A4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</a:endParaRPr>
              </a:p>
            </p:txBody>
          </p:sp>
        </p:grpSp>
        <p:sp>
          <p:nvSpPr>
            <p:cNvPr id="46" name="文字方塊 45"/>
            <p:cNvSpPr txBox="1"/>
            <p:nvPr/>
          </p:nvSpPr>
          <p:spPr>
            <a:xfrm>
              <a:off x="1604962" y="196222"/>
              <a:ext cx="5431155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TW"/>
              </a:defPPr>
              <a:lvl1pPr defTabSz="837565">
                <a:defRPr sz="3200" b="1">
                  <a:solidFill>
                    <a:srgbClr val="2E9CC8"/>
                  </a:solidFill>
                  <a:latin typeface="DengXian" panose="02010600030101010101" pitchFamily="2" charset="-122"/>
                  <a:ea typeface="DengXian" panose="02010600030101010101" pitchFamily="2" charset="-122"/>
                </a:defRPr>
              </a:lvl1pPr>
            </a:lstStyle>
            <a:p>
              <a:r>
                <a:rPr lang="en-US" altLang="zh-TW" sz="2800" dirty="0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sym typeface="+mn-ea"/>
                </a:rPr>
                <a:t>Q3 –2025  Work Results</a:t>
              </a:r>
              <a:endParaRPr lang="en-US" altLang="zh-TW" sz="28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endParaRPr>
            </a:p>
          </p:txBody>
        </p:sp>
      </p:grpSp>
      <p:sp>
        <p:nvSpPr>
          <p:cNvPr id="16" name="Content Placeholder 2"/>
          <p:cNvSpPr>
            <a:spLocks noGrp="1"/>
          </p:cNvSpPr>
          <p:nvPr>
            <p:ph idx="1"/>
          </p:nvPr>
        </p:nvSpPr>
        <p:spPr>
          <a:xfrm>
            <a:off x="838200" y="1396538"/>
            <a:ext cx="10515600" cy="47804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sz="1300" b="1" dirty="0" smtClean="0"/>
              <a:t>Set up 4K, 4J, 4P, 5S, 5P</a:t>
            </a:r>
          </a:p>
          <a:p>
            <a:pPr marL="0" indent="0">
              <a:buNone/>
            </a:pPr>
            <a:r>
              <a:rPr lang="en-US" sz="1300" dirty="0" smtClean="0"/>
              <a:t>• Set up AOI device , camera, </a:t>
            </a:r>
            <a:r>
              <a:rPr lang="en-US" sz="1300" dirty="0" err="1" smtClean="0"/>
              <a:t>sfis</a:t>
            </a:r>
            <a:r>
              <a:rPr lang="en-US" sz="1300" dirty="0" smtClean="0"/>
              <a:t> network,... </a:t>
            </a:r>
          </a:p>
          <a:p>
            <a:pPr marL="0" indent="0">
              <a:buNone/>
            </a:pPr>
            <a:r>
              <a:rPr lang="en-US" sz="1300" dirty="0" smtClean="0"/>
              <a:t>• </a:t>
            </a:r>
            <a:r>
              <a:rPr lang="en-US" sz="1300" dirty="0"/>
              <a:t>Testing program with sample</a:t>
            </a:r>
            <a:r>
              <a:rPr lang="en-US" sz="1300" dirty="0" smtClean="0"/>
              <a:t>.</a:t>
            </a:r>
          </a:p>
          <a:p>
            <a:pPr marL="0" indent="0">
              <a:buNone/>
            </a:pPr>
            <a:r>
              <a:rPr lang="en-US" sz="1300" dirty="0"/>
              <a:t>• Improve error catching, vision </a:t>
            </a:r>
            <a:endParaRPr lang="en-US" sz="1300" dirty="0" smtClean="0"/>
          </a:p>
          <a:p>
            <a:pPr marL="0" indent="0">
              <a:buNone/>
            </a:pPr>
            <a:r>
              <a:rPr lang="en-US" sz="1300" dirty="0" smtClean="0"/>
              <a:t>• Debug </a:t>
            </a:r>
            <a:r>
              <a:rPr lang="en-US" sz="1300" dirty="0"/>
              <a:t>the </a:t>
            </a:r>
            <a:r>
              <a:rPr lang="en-US" sz="1300" dirty="0" smtClean="0"/>
              <a:t>program</a:t>
            </a:r>
          </a:p>
          <a:p>
            <a:pPr marL="0" indent="0">
              <a:buNone/>
            </a:pPr>
            <a:r>
              <a:rPr lang="en-US" sz="1300" dirty="0" smtClean="0"/>
              <a:t>• Fix program error</a:t>
            </a:r>
          </a:p>
          <a:p>
            <a:pPr marL="0" indent="0">
              <a:buNone/>
            </a:pPr>
            <a:r>
              <a:rPr lang="en-US" sz="1300" b="1" dirty="0"/>
              <a:t>Set up all part of AOI </a:t>
            </a:r>
            <a:r>
              <a:rPr lang="en-US" sz="1300" b="1" dirty="0" smtClean="0"/>
              <a:t>machine 4P, 5S(ICX8100), 5P(USW-Flex8)</a:t>
            </a:r>
          </a:p>
          <a:p>
            <a:pPr marL="0" indent="0">
              <a:buNone/>
            </a:pPr>
            <a:r>
              <a:rPr lang="en-US" sz="1300" dirty="0"/>
              <a:t>• Setup camera to check all part of devices. </a:t>
            </a:r>
          </a:p>
          <a:p>
            <a:pPr marL="0" indent="0">
              <a:buNone/>
            </a:pPr>
            <a:r>
              <a:rPr lang="en-US" sz="1300" dirty="0"/>
              <a:t>• Setting camera, setup layout. </a:t>
            </a:r>
          </a:p>
          <a:p>
            <a:pPr marL="0" indent="0">
              <a:buNone/>
            </a:pPr>
            <a:r>
              <a:rPr lang="en-US" sz="1300" dirty="0"/>
              <a:t>• Test computer. </a:t>
            </a:r>
          </a:p>
          <a:p>
            <a:pPr marL="0" indent="0">
              <a:buNone/>
            </a:pPr>
            <a:r>
              <a:rPr lang="en-US" sz="1300" dirty="0"/>
              <a:t>• Inference server. </a:t>
            </a:r>
          </a:p>
          <a:p>
            <a:pPr marL="0" indent="0">
              <a:buNone/>
            </a:pPr>
            <a:r>
              <a:rPr lang="en-US" sz="1300" dirty="0"/>
              <a:t>• AOI working process. </a:t>
            </a:r>
          </a:p>
          <a:p>
            <a:pPr marL="0" indent="0">
              <a:buNone/>
            </a:pPr>
            <a:endParaRPr lang="en-US" sz="1300" dirty="0"/>
          </a:p>
        </p:txBody>
      </p:sp>
      <p:sp>
        <p:nvSpPr>
          <p:cNvPr id="5" name="Rectangle 4"/>
          <p:cNvSpPr/>
          <p:nvPr/>
        </p:nvSpPr>
        <p:spPr>
          <a:xfrm>
            <a:off x="838199" y="831886"/>
            <a:ext cx="874637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+mj-lt"/>
              </a:rPr>
              <a:t>1</a:t>
            </a:r>
            <a:r>
              <a:rPr lang="en-US" sz="2400" b="1" dirty="0" smtClean="0">
                <a:latin typeface="+mj-lt"/>
              </a:rPr>
              <a:t>. Set up AOI </a:t>
            </a:r>
            <a:r>
              <a:rPr lang="en-US" sz="2400" b="1" dirty="0">
                <a:latin typeface="+mj-lt"/>
              </a:rPr>
              <a:t>equipment in </a:t>
            </a:r>
            <a:r>
              <a:rPr lang="en-US" sz="2400" b="1" dirty="0" smtClean="0">
                <a:latin typeface="+mj-lt"/>
              </a:rPr>
              <a:t>line</a:t>
            </a:r>
            <a:endParaRPr lang="en-US" sz="24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7844180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2"/>
          <p:cNvPicPr preferRelativeResize="0">
            <a:picLocks noGrp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194560"/>
            <a:ext cx="6400800" cy="4114800"/>
          </a:xfrm>
          <a:prstGeom prst="rect">
            <a:avLst/>
          </a:prstGeom>
          <a:ln w="38100" cap="sq">
            <a:solidFill>
              <a:schemeClr val="accent3">
                <a:lumMod val="60000"/>
                <a:lumOff val="40000"/>
              </a:schemeClr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4" name="Picture 3"/>
          <p:cNvPicPr preferRelativeResize="0"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5953" y="3931920"/>
            <a:ext cx="4663440" cy="2468880"/>
          </a:xfrm>
          <a:prstGeom prst="rect">
            <a:avLst/>
          </a:prstGeom>
          <a:ln w="38100" cap="sq">
            <a:solidFill>
              <a:schemeClr val="accent3">
                <a:lumMod val="60000"/>
                <a:lumOff val="40000"/>
              </a:schemeClr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grpSp>
        <p:nvGrpSpPr>
          <p:cNvPr id="6" name="群組 42"/>
          <p:cNvGrpSpPr/>
          <p:nvPr/>
        </p:nvGrpSpPr>
        <p:grpSpPr>
          <a:xfrm>
            <a:off x="195262" y="178409"/>
            <a:ext cx="11801476" cy="588751"/>
            <a:chOff x="195262" y="163202"/>
            <a:chExt cx="11801476" cy="588751"/>
          </a:xfrm>
        </p:grpSpPr>
        <p:sp>
          <p:nvSpPr>
            <p:cNvPr id="7" name="矩形: 圓角 43"/>
            <p:cNvSpPr/>
            <p:nvPr/>
          </p:nvSpPr>
          <p:spPr>
            <a:xfrm>
              <a:off x="195262" y="247970"/>
              <a:ext cx="11801476" cy="419217"/>
            </a:xfrm>
            <a:prstGeom prst="roundRect">
              <a:avLst>
                <a:gd name="adj" fmla="val 40804"/>
              </a:avLst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8000">
                  <a:schemeClr val="tx1">
                    <a:lumMod val="50000"/>
                    <a:lumOff val="50000"/>
                  </a:schemeClr>
                </a:gs>
                <a:gs pos="83000">
                  <a:schemeClr val="tx1">
                    <a:lumMod val="75000"/>
                    <a:lumOff val="25000"/>
                  </a:schemeClr>
                </a:gs>
                <a:gs pos="100000">
                  <a:schemeClr val="tx1">
                    <a:lumMod val="75000"/>
                    <a:lumOff val="25000"/>
                  </a:schemeClr>
                </a:gs>
              </a:gsLst>
              <a:lin ang="0" scaled="1"/>
              <a:tileRect/>
            </a:gradFill>
            <a:ln w="381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grpSp>
          <p:nvGrpSpPr>
            <p:cNvPr id="8" name="群組 44"/>
            <p:cNvGrpSpPr/>
            <p:nvPr/>
          </p:nvGrpSpPr>
          <p:grpSpPr>
            <a:xfrm>
              <a:off x="600729" y="163202"/>
              <a:ext cx="1038687" cy="588751"/>
              <a:chOff x="1782913" y="2529000"/>
              <a:chExt cx="3121572" cy="1800001"/>
            </a:xfrm>
          </p:grpSpPr>
          <p:sp>
            <p:nvSpPr>
              <p:cNvPr id="10" name="圆角矩形 15"/>
              <p:cNvSpPr/>
              <p:nvPr/>
            </p:nvSpPr>
            <p:spPr>
              <a:xfrm rot="2700000">
                <a:off x="1857839" y="2529000"/>
                <a:ext cx="1800000" cy="1800001"/>
              </a:xfrm>
              <a:prstGeom prst="roundRect">
                <a:avLst/>
              </a:prstGeom>
              <a:solidFill>
                <a:srgbClr val="34B2E4"/>
              </a:solidFill>
              <a:ln>
                <a:noFill/>
              </a:ln>
              <a:effectLst>
                <a:outerShdw blurRad="127000" algn="ctr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  <a:cs typeface="+mn-ea"/>
                  <a:sym typeface="+mn-lt"/>
                </a:endParaRPr>
              </a:p>
            </p:txBody>
          </p:sp>
          <p:sp>
            <p:nvSpPr>
              <p:cNvPr id="11" name="圆角矩形 16"/>
              <p:cNvSpPr/>
              <p:nvPr/>
            </p:nvSpPr>
            <p:spPr>
              <a:xfrm rot="2700000">
                <a:off x="1782913" y="2529000"/>
                <a:ext cx="1800000" cy="1800000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190500" algn="ctr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  <a:cs typeface="+mn-ea"/>
                  <a:sym typeface="+mn-lt"/>
                </a:endParaRPr>
              </a:p>
            </p:txBody>
          </p:sp>
          <p:pic>
            <p:nvPicPr>
              <p:cNvPr id="12" name="圖片 49" descr="一張含有 文字, 輪子, 美工圖案, 齒輪 的圖片&#10;&#10;自動產生的描述"/>
              <p:cNvPicPr>
                <a:picLocks noChangeAspect="1"/>
              </p:cNvPicPr>
              <p:nvPr/>
            </p:nvPicPr>
            <p:blipFill rotWithShape="1">
              <a:blip r:embed="rId4" cstate="print">
                <a:grayscl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3898"/>
              <a:stretch>
                <a:fillRect/>
              </a:stretch>
            </p:blipFill>
            <p:spPr>
              <a:xfrm rot="5400000">
                <a:off x="3709805" y="2875160"/>
                <a:ext cx="1281680" cy="110768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3" name="矩形 50"/>
              <p:cNvSpPr/>
              <p:nvPr/>
            </p:nvSpPr>
            <p:spPr>
              <a:xfrm>
                <a:off x="1831379" y="2819459"/>
                <a:ext cx="1703069" cy="13375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TW" sz="11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A4A4A4"/>
                    </a:solidFill>
                    <a:effectLst/>
                    <a:uLnTx/>
                    <a:uFillTx/>
                    <a:latin typeface="DengXian" panose="02010600030101010101" pitchFamily="2" charset="-122"/>
                    <a:ea typeface="DengXian" panose="02010600030101010101" pitchFamily="2" charset="-122"/>
                  </a:rPr>
                  <a:t>BG6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TW" sz="1100" b="1" dirty="0">
                    <a:solidFill>
                      <a:srgbClr val="A4A4A4"/>
                    </a:solidFill>
                    <a:latin typeface="DengXian" panose="02010600030101010101" pitchFamily="2" charset="-122"/>
                    <a:ea typeface="DengXian" panose="02010600030101010101" pitchFamily="2" charset="-122"/>
                  </a:rPr>
                  <a:t>PVN</a:t>
                </a:r>
                <a:endParaRPr kumimoji="0" lang="en-US" altLang="zh-TW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A4A4A4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</a:endParaRPr>
              </a:p>
            </p:txBody>
          </p:sp>
        </p:grpSp>
        <p:sp>
          <p:nvSpPr>
            <p:cNvPr id="9" name="文字方塊 45"/>
            <p:cNvSpPr txBox="1"/>
            <p:nvPr/>
          </p:nvSpPr>
          <p:spPr>
            <a:xfrm>
              <a:off x="1604962" y="196222"/>
              <a:ext cx="5431155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TW"/>
              </a:defPPr>
              <a:lvl1pPr defTabSz="837565">
                <a:defRPr sz="3200" b="1">
                  <a:solidFill>
                    <a:srgbClr val="2E9CC8"/>
                  </a:solidFill>
                  <a:latin typeface="DengXian" panose="02010600030101010101" pitchFamily="2" charset="-122"/>
                  <a:ea typeface="DengXian" panose="02010600030101010101" pitchFamily="2" charset="-122"/>
                </a:defRPr>
              </a:lvl1pPr>
            </a:lstStyle>
            <a:p>
              <a:r>
                <a:rPr lang="en-US" altLang="zh-TW" sz="2800" dirty="0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sym typeface="+mn-ea"/>
                </a:rPr>
                <a:t>Q4 –2025  Work Results</a:t>
              </a:r>
              <a:endParaRPr lang="en-US" altLang="zh-TW" sz="28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endParaRPr>
            </a:p>
          </p:txBody>
        </p:sp>
      </p:grpSp>
      <p:sp>
        <p:nvSpPr>
          <p:cNvPr id="27" name="Rectangle 26"/>
          <p:cNvSpPr/>
          <p:nvPr/>
        </p:nvSpPr>
        <p:spPr>
          <a:xfrm>
            <a:off x="8542310" y="6438130"/>
            <a:ext cx="2430888" cy="43088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1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Number of quantity checking</a:t>
            </a:r>
          </a:p>
          <a:p>
            <a:pPr algn="ctr"/>
            <a:endParaRPr lang="en-US" sz="1100" dirty="0" smtClean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8656257" y="873506"/>
            <a:ext cx="1970115" cy="43088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1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Training on </a:t>
            </a:r>
            <a:r>
              <a:rPr lang="en-US" sz="11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cambrain</a:t>
            </a:r>
            <a:r>
              <a:rPr lang="en-US" sz="11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system</a:t>
            </a:r>
          </a:p>
          <a:p>
            <a:pPr algn="ctr"/>
            <a:endParaRPr lang="en-US" sz="1100" dirty="0" smtClean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49898" y="1103004"/>
            <a:ext cx="1405230" cy="60016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1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Checking all part of the component: label, cover, logo…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05953" y="5295738"/>
            <a:ext cx="4670722" cy="128770"/>
          </a:xfrm>
          <a:prstGeom prst="rect">
            <a:avLst/>
          </a:prstGeom>
          <a:noFill/>
          <a:ln w="41275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dirty="0">
              <a:solidFill>
                <a:sysClr val="windowText" lastClr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2" name="Picture 1"/>
          <p:cNvPicPr preferRelativeResize="0">
            <a:picLocks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0" y="1097280"/>
            <a:ext cx="4663440" cy="2743200"/>
          </a:xfrm>
          <a:prstGeom prst="rect">
            <a:avLst/>
          </a:prstGeom>
          <a:ln w="38100" cap="sq">
            <a:solidFill>
              <a:schemeClr val="accent3">
                <a:lumMod val="60000"/>
                <a:lumOff val="40000"/>
              </a:schemeClr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cxnSp>
        <p:nvCxnSpPr>
          <p:cNvPr id="38" name="Straight Arrow Connector 37"/>
          <p:cNvCxnSpPr/>
          <p:nvPr/>
        </p:nvCxnSpPr>
        <p:spPr>
          <a:xfrm flipH="1">
            <a:off x="807396" y="2041723"/>
            <a:ext cx="205536" cy="11500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>
            <a:off x="1012932" y="2050783"/>
            <a:ext cx="2362566" cy="11410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ular Callout 19"/>
          <p:cNvSpPr/>
          <p:nvPr/>
        </p:nvSpPr>
        <p:spPr>
          <a:xfrm>
            <a:off x="2156291" y="1584849"/>
            <a:ext cx="2244436" cy="398784"/>
          </a:xfrm>
          <a:prstGeom prst="wedgeRectCallout">
            <a:avLst>
              <a:gd name="adj1" fmla="val -21574"/>
              <a:gd name="adj2" fmla="val 104190"/>
            </a:avLst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 smtClean="0"/>
              <a:t>   AOI ICX R30</a:t>
            </a:r>
            <a:endParaRPr lang="en-US" dirty="0">
              <a:solidFill>
                <a:sysClr val="windowText" lastClr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131447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2"/>
          <p:cNvPicPr preferRelativeResize="0">
            <a:picLocks noGrp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194560"/>
            <a:ext cx="6400800" cy="4114800"/>
          </a:xfrm>
          <a:prstGeom prst="rect">
            <a:avLst/>
          </a:prstGeom>
          <a:ln w="38100" cap="sq">
            <a:solidFill>
              <a:schemeClr val="accent3">
                <a:lumMod val="60000"/>
                <a:lumOff val="40000"/>
              </a:schemeClr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grpSp>
        <p:nvGrpSpPr>
          <p:cNvPr id="6" name="群組 42"/>
          <p:cNvGrpSpPr/>
          <p:nvPr/>
        </p:nvGrpSpPr>
        <p:grpSpPr>
          <a:xfrm>
            <a:off x="195262" y="178409"/>
            <a:ext cx="11801476" cy="588751"/>
            <a:chOff x="195262" y="163202"/>
            <a:chExt cx="11801476" cy="588751"/>
          </a:xfrm>
        </p:grpSpPr>
        <p:sp>
          <p:nvSpPr>
            <p:cNvPr id="7" name="矩形: 圓角 43"/>
            <p:cNvSpPr/>
            <p:nvPr/>
          </p:nvSpPr>
          <p:spPr>
            <a:xfrm>
              <a:off x="195262" y="247970"/>
              <a:ext cx="11801476" cy="419217"/>
            </a:xfrm>
            <a:prstGeom prst="roundRect">
              <a:avLst>
                <a:gd name="adj" fmla="val 40804"/>
              </a:avLst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8000">
                  <a:schemeClr val="tx1">
                    <a:lumMod val="50000"/>
                    <a:lumOff val="50000"/>
                  </a:schemeClr>
                </a:gs>
                <a:gs pos="83000">
                  <a:schemeClr val="tx1">
                    <a:lumMod val="75000"/>
                    <a:lumOff val="25000"/>
                  </a:schemeClr>
                </a:gs>
                <a:gs pos="100000">
                  <a:schemeClr val="tx1">
                    <a:lumMod val="75000"/>
                    <a:lumOff val="25000"/>
                  </a:schemeClr>
                </a:gs>
              </a:gsLst>
              <a:lin ang="0" scaled="1"/>
              <a:tileRect/>
            </a:gradFill>
            <a:ln w="381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grpSp>
          <p:nvGrpSpPr>
            <p:cNvPr id="8" name="群組 44"/>
            <p:cNvGrpSpPr/>
            <p:nvPr/>
          </p:nvGrpSpPr>
          <p:grpSpPr>
            <a:xfrm>
              <a:off x="600729" y="163202"/>
              <a:ext cx="1038687" cy="588751"/>
              <a:chOff x="1782913" y="2529000"/>
              <a:chExt cx="3121572" cy="1800001"/>
            </a:xfrm>
          </p:grpSpPr>
          <p:sp>
            <p:nvSpPr>
              <p:cNvPr id="10" name="圆角矩形 15"/>
              <p:cNvSpPr/>
              <p:nvPr/>
            </p:nvSpPr>
            <p:spPr>
              <a:xfrm rot="2700000">
                <a:off x="1857839" y="2529000"/>
                <a:ext cx="1800000" cy="1800001"/>
              </a:xfrm>
              <a:prstGeom prst="roundRect">
                <a:avLst/>
              </a:prstGeom>
              <a:solidFill>
                <a:srgbClr val="34B2E4"/>
              </a:solidFill>
              <a:ln>
                <a:noFill/>
              </a:ln>
              <a:effectLst>
                <a:outerShdw blurRad="127000" algn="ctr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  <a:cs typeface="+mn-ea"/>
                  <a:sym typeface="+mn-lt"/>
                </a:endParaRPr>
              </a:p>
            </p:txBody>
          </p:sp>
          <p:sp>
            <p:nvSpPr>
              <p:cNvPr id="11" name="圆角矩形 16"/>
              <p:cNvSpPr/>
              <p:nvPr/>
            </p:nvSpPr>
            <p:spPr>
              <a:xfrm rot="2700000">
                <a:off x="1782913" y="2529000"/>
                <a:ext cx="1800000" cy="1800000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190500" algn="ctr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  <a:cs typeface="+mn-ea"/>
                  <a:sym typeface="+mn-lt"/>
                </a:endParaRPr>
              </a:p>
            </p:txBody>
          </p:sp>
          <p:pic>
            <p:nvPicPr>
              <p:cNvPr id="12" name="圖片 49" descr="一張含有 文字, 輪子, 美工圖案, 齒輪 的圖片&#10;&#10;自動產生的描述"/>
              <p:cNvPicPr>
                <a:picLocks noChangeAspect="1"/>
              </p:cNvPicPr>
              <p:nvPr/>
            </p:nvPicPr>
            <p:blipFill rotWithShape="1">
              <a:blip r:embed="rId3" cstate="print">
                <a:grayscl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3898"/>
              <a:stretch>
                <a:fillRect/>
              </a:stretch>
            </p:blipFill>
            <p:spPr>
              <a:xfrm rot="5400000">
                <a:off x="3709805" y="2875160"/>
                <a:ext cx="1281680" cy="110768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3" name="矩形 50"/>
              <p:cNvSpPr/>
              <p:nvPr/>
            </p:nvSpPr>
            <p:spPr>
              <a:xfrm>
                <a:off x="1831379" y="2819459"/>
                <a:ext cx="1703069" cy="13375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TW" sz="11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A4A4A4"/>
                    </a:solidFill>
                    <a:effectLst/>
                    <a:uLnTx/>
                    <a:uFillTx/>
                    <a:latin typeface="DengXian" panose="02010600030101010101" pitchFamily="2" charset="-122"/>
                    <a:ea typeface="DengXian" panose="02010600030101010101" pitchFamily="2" charset="-122"/>
                  </a:rPr>
                  <a:t>BG6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TW" sz="1100" b="1" dirty="0">
                    <a:solidFill>
                      <a:srgbClr val="A4A4A4"/>
                    </a:solidFill>
                    <a:latin typeface="DengXian" panose="02010600030101010101" pitchFamily="2" charset="-122"/>
                    <a:ea typeface="DengXian" panose="02010600030101010101" pitchFamily="2" charset="-122"/>
                  </a:rPr>
                  <a:t>PVN</a:t>
                </a:r>
                <a:endParaRPr kumimoji="0" lang="en-US" altLang="zh-TW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A4A4A4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</a:endParaRPr>
              </a:p>
            </p:txBody>
          </p:sp>
        </p:grpSp>
        <p:sp>
          <p:nvSpPr>
            <p:cNvPr id="9" name="文字方塊 45"/>
            <p:cNvSpPr txBox="1"/>
            <p:nvPr/>
          </p:nvSpPr>
          <p:spPr>
            <a:xfrm>
              <a:off x="1604962" y="196222"/>
              <a:ext cx="5431155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TW"/>
              </a:defPPr>
              <a:lvl1pPr defTabSz="837565">
                <a:defRPr sz="3200" b="1">
                  <a:solidFill>
                    <a:srgbClr val="2E9CC8"/>
                  </a:solidFill>
                  <a:latin typeface="DengXian" panose="02010600030101010101" pitchFamily="2" charset="-122"/>
                  <a:ea typeface="DengXian" panose="02010600030101010101" pitchFamily="2" charset="-122"/>
                </a:defRPr>
              </a:lvl1pPr>
            </a:lstStyle>
            <a:p>
              <a:r>
                <a:rPr lang="en-US" altLang="zh-TW" sz="2800" dirty="0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sym typeface="+mn-ea"/>
                </a:rPr>
                <a:t>Q4 –2025  Work Results</a:t>
              </a:r>
              <a:endParaRPr lang="en-US" altLang="zh-TW" sz="28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endParaRPr>
            </a:p>
          </p:txBody>
        </p:sp>
      </p:grpSp>
      <p:sp>
        <p:nvSpPr>
          <p:cNvPr id="28" name="Rectangle 27"/>
          <p:cNvSpPr/>
          <p:nvPr/>
        </p:nvSpPr>
        <p:spPr>
          <a:xfrm>
            <a:off x="8562171" y="792828"/>
            <a:ext cx="2011680" cy="43088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1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Training on </a:t>
            </a:r>
            <a:r>
              <a:rPr lang="en-US" sz="11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cambrain</a:t>
            </a:r>
            <a:r>
              <a:rPr lang="en-US" sz="11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system</a:t>
            </a:r>
          </a:p>
          <a:p>
            <a:pPr algn="ctr"/>
            <a:endParaRPr lang="en-US" sz="1100" dirty="0" smtClean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35" name="Straight Arrow Connector 34"/>
          <p:cNvCxnSpPr/>
          <p:nvPr/>
        </p:nvCxnSpPr>
        <p:spPr>
          <a:xfrm>
            <a:off x="731520" y="1872445"/>
            <a:ext cx="613524" cy="25582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>
            <a:off x="731520" y="1872445"/>
            <a:ext cx="1005840" cy="12032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/>
          <p:cNvPicPr preferRelativeResize="0"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0" y="1097280"/>
            <a:ext cx="4663440" cy="2743200"/>
          </a:xfrm>
          <a:prstGeom prst="rect">
            <a:avLst/>
          </a:prstGeom>
          <a:ln w="38100" cap="sq">
            <a:solidFill>
              <a:schemeClr val="accent3">
                <a:lumMod val="60000"/>
                <a:lumOff val="40000"/>
              </a:schemeClr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4" name="Picture 13"/>
          <p:cNvPicPr preferRelativeResize="0"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0" y="3931920"/>
            <a:ext cx="4663440" cy="2468880"/>
          </a:xfrm>
          <a:prstGeom prst="rect">
            <a:avLst/>
          </a:prstGeom>
          <a:ln w="38100" cap="sq">
            <a:solidFill>
              <a:schemeClr val="accent3">
                <a:lumMod val="60000"/>
                <a:lumOff val="40000"/>
              </a:schemeClr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24" name="Rectangle 23"/>
          <p:cNvSpPr/>
          <p:nvPr/>
        </p:nvSpPr>
        <p:spPr>
          <a:xfrm>
            <a:off x="7307918" y="5572894"/>
            <a:ext cx="4670722" cy="128770"/>
          </a:xfrm>
          <a:prstGeom prst="rect">
            <a:avLst/>
          </a:prstGeom>
          <a:noFill/>
          <a:ln w="41275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dirty="0">
              <a:solidFill>
                <a:sysClr val="windowText" lastClr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8561664" y="6492240"/>
            <a:ext cx="2430888" cy="43088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1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Number of quantity checking</a:t>
            </a:r>
          </a:p>
          <a:p>
            <a:pPr algn="ctr"/>
            <a:endParaRPr lang="en-US" sz="1100" dirty="0" smtClean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1" name="Rectangular Callout 20"/>
          <p:cNvSpPr/>
          <p:nvPr/>
        </p:nvSpPr>
        <p:spPr>
          <a:xfrm>
            <a:off x="2156291" y="1584849"/>
            <a:ext cx="2244436" cy="398784"/>
          </a:xfrm>
          <a:prstGeom prst="wedgeRectCallout">
            <a:avLst>
              <a:gd name="adj1" fmla="val -21574"/>
              <a:gd name="adj2" fmla="val 104190"/>
            </a:avLst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 smtClean="0"/>
              <a:t>   AOI ICX CCX 350</a:t>
            </a:r>
            <a:endParaRPr lang="en-US" dirty="0">
              <a:solidFill>
                <a:sysClr val="windowText" lastClr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49898" y="1103004"/>
            <a:ext cx="1405230" cy="76944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1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Checking all part of the component: net, keypad, switch, screw,….</a:t>
            </a:r>
          </a:p>
        </p:txBody>
      </p:sp>
    </p:spTree>
    <p:extLst>
      <p:ext uri="{BB962C8B-B14F-4D97-AF65-F5344CB8AC3E}">
        <p14:creationId xmlns:p14="http://schemas.microsoft.com/office/powerpoint/2010/main" val="37491038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 preferRelativeResize="0"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194560"/>
            <a:ext cx="6400800" cy="4114800"/>
          </a:xfrm>
          <a:prstGeom prst="rect">
            <a:avLst/>
          </a:prstGeom>
          <a:ln w="38100" cap="sq">
            <a:solidFill>
              <a:schemeClr val="accent3">
                <a:lumMod val="60000"/>
                <a:lumOff val="40000"/>
              </a:schemeClr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grpSp>
        <p:nvGrpSpPr>
          <p:cNvPr id="6" name="群組 42"/>
          <p:cNvGrpSpPr/>
          <p:nvPr/>
        </p:nvGrpSpPr>
        <p:grpSpPr>
          <a:xfrm>
            <a:off x="195262" y="178409"/>
            <a:ext cx="11801476" cy="588751"/>
            <a:chOff x="195262" y="163202"/>
            <a:chExt cx="11801476" cy="588751"/>
          </a:xfrm>
        </p:grpSpPr>
        <p:sp>
          <p:nvSpPr>
            <p:cNvPr id="7" name="矩形: 圓角 43"/>
            <p:cNvSpPr/>
            <p:nvPr/>
          </p:nvSpPr>
          <p:spPr>
            <a:xfrm>
              <a:off x="195262" y="247970"/>
              <a:ext cx="11801476" cy="419217"/>
            </a:xfrm>
            <a:prstGeom prst="roundRect">
              <a:avLst>
                <a:gd name="adj" fmla="val 40804"/>
              </a:avLst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8000">
                  <a:schemeClr val="tx1">
                    <a:lumMod val="50000"/>
                    <a:lumOff val="50000"/>
                  </a:schemeClr>
                </a:gs>
                <a:gs pos="83000">
                  <a:schemeClr val="tx1">
                    <a:lumMod val="75000"/>
                    <a:lumOff val="25000"/>
                  </a:schemeClr>
                </a:gs>
                <a:gs pos="100000">
                  <a:schemeClr val="tx1">
                    <a:lumMod val="75000"/>
                    <a:lumOff val="25000"/>
                  </a:schemeClr>
                </a:gs>
              </a:gsLst>
              <a:lin ang="0" scaled="1"/>
              <a:tileRect/>
            </a:gradFill>
            <a:ln w="381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grpSp>
          <p:nvGrpSpPr>
            <p:cNvPr id="8" name="群組 44"/>
            <p:cNvGrpSpPr/>
            <p:nvPr/>
          </p:nvGrpSpPr>
          <p:grpSpPr>
            <a:xfrm>
              <a:off x="600729" y="163202"/>
              <a:ext cx="1038687" cy="588751"/>
              <a:chOff x="1782913" y="2529000"/>
              <a:chExt cx="3121572" cy="1800001"/>
            </a:xfrm>
          </p:grpSpPr>
          <p:sp>
            <p:nvSpPr>
              <p:cNvPr id="10" name="圆角矩形 15"/>
              <p:cNvSpPr/>
              <p:nvPr/>
            </p:nvSpPr>
            <p:spPr>
              <a:xfrm rot="2700000">
                <a:off x="1857839" y="2529000"/>
                <a:ext cx="1800000" cy="1800001"/>
              </a:xfrm>
              <a:prstGeom prst="roundRect">
                <a:avLst/>
              </a:prstGeom>
              <a:solidFill>
                <a:srgbClr val="34B2E4"/>
              </a:solidFill>
              <a:ln>
                <a:noFill/>
              </a:ln>
              <a:effectLst>
                <a:outerShdw blurRad="127000" algn="ctr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  <a:cs typeface="+mn-ea"/>
                  <a:sym typeface="+mn-lt"/>
                </a:endParaRPr>
              </a:p>
            </p:txBody>
          </p:sp>
          <p:sp>
            <p:nvSpPr>
              <p:cNvPr id="11" name="圆角矩形 16"/>
              <p:cNvSpPr/>
              <p:nvPr/>
            </p:nvSpPr>
            <p:spPr>
              <a:xfrm rot="2700000">
                <a:off x="1782913" y="2529000"/>
                <a:ext cx="1800000" cy="1800000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190500" algn="ctr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  <a:cs typeface="+mn-ea"/>
                  <a:sym typeface="+mn-lt"/>
                </a:endParaRPr>
              </a:p>
            </p:txBody>
          </p:sp>
          <p:pic>
            <p:nvPicPr>
              <p:cNvPr id="12" name="圖片 49" descr="一張含有 文字, 輪子, 美工圖案, 齒輪 的圖片&#10;&#10;自動產生的描述"/>
              <p:cNvPicPr>
                <a:picLocks noChangeAspect="1"/>
              </p:cNvPicPr>
              <p:nvPr/>
            </p:nvPicPr>
            <p:blipFill rotWithShape="1">
              <a:blip r:embed="rId3" cstate="print">
                <a:grayscl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3898"/>
              <a:stretch>
                <a:fillRect/>
              </a:stretch>
            </p:blipFill>
            <p:spPr>
              <a:xfrm rot="5400000">
                <a:off x="3709805" y="2875160"/>
                <a:ext cx="1281680" cy="110768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3" name="矩形 50"/>
              <p:cNvSpPr/>
              <p:nvPr/>
            </p:nvSpPr>
            <p:spPr>
              <a:xfrm>
                <a:off x="1831379" y="2819459"/>
                <a:ext cx="1703069" cy="13375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TW" sz="11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A4A4A4"/>
                    </a:solidFill>
                    <a:effectLst/>
                    <a:uLnTx/>
                    <a:uFillTx/>
                    <a:latin typeface="DengXian" panose="02010600030101010101" pitchFamily="2" charset="-122"/>
                    <a:ea typeface="DengXian" panose="02010600030101010101" pitchFamily="2" charset="-122"/>
                  </a:rPr>
                  <a:t>BG6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TW" sz="1100" b="1" dirty="0">
                    <a:solidFill>
                      <a:srgbClr val="A4A4A4"/>
                    </a:solidFill>
                    <a:latin typeface="DengXian" panose="02010600030101010101" pitchFamily="2" charset="-122"/>
                    <a:ea typeface="DengXian" panose="02010600030101010101" pitchFamily="2" charset="-122"/>
                  </a:rPr>
                  <a:t>PVN</a:t>
                </a:r>
                <a:endParaRPr kumimoji="0" lang="en-US" altLang="zh-TW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A4A4A4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</a:endParaRPr>
              </a:p>
            </p:txBody>
          </p:sp>
        </p:grpSp>
        <p:sp>
          <p:nvSpPr>
            <p:cNvPr id="9" name="文字方塊 45"/>
            <p:cNvSpPr txBox="1"/>
            <p:nvPr/>
          </p:nvSpPr>
          <p:spPr>
            <a:xfrm>
              <a:off x="1604962" y="196222"/>
              <a:ext cx="5431155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TW"/>
              </a:defPPr>
              <a:lvl1pPr defTabSz="837565">
                <a:defRPr sz="3200" b="1">
                  <a:solidFill>
                    <a:srgbClr val="2E9CC8"/>
                  </a:solidFill>
                  <a:latin typeface="DengXian" panose="02010600030101010101" pitchFamily="2" charset="-122"/>
                  <a:ea typeface="DengXian" panose="02010600030101010101" pitchFamily="2" charset="-122"/>
                </a:defRPr>
              </a:lvl1pPr>
            </a:lstStyle>
            <a:p>
              <a:r>
                <a:rPr lang="en-US" altLang="zh-TW" sz="2800" dirty="0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sym typeface="+mn-ea"/>
                </a:rPr>
                <a:t>Q4 –2025  Work Results</a:t>
              </a:r>
              <a:endParaRPr lang="en-US" altLang="zh-TW" sz="28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endParaRPr>
            </a:p>
          </p:txBody>
        </p:sp>
      </p:grpSp>
      <p:cxnSp>
        <p:nvCxnSpPr>
          <p:cNvPr id="18" name="Straight Arrow Connector 17"/>
          <p:cNvCxnSpPr/>
          <p:nvPr/>
        </p:nvCxnSpPr>
        <p:spPr>
          <a:xfrm>
            <a:off x="741539" y="2041722"/>
            <a:ext cx="315633" cy="11390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8464591" y="884926"/>
            <a:ext cx="1970115" cy="43088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1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Training on </a:t>
            </a:r>
            <a:r>
              <a:rPr lang="en-US" sz="11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cambrain</a:t>
            </a:r>
            <a:r>
              <a:rPr lang="en-US" sz="11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system</a:t>
            </a:r>
          </a:p>
          <a:p>
            <a:pPr algn="ctr"/>
            <a:endParaRPr lang="en-US" sz="1100" dirty="0" smtClean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38" name="Straight Arrow Connector 37"/>
          <p:cNvCxnSpPr/>
          <p:nvPr/>
        </p:nvCxnSpPr>
        <p:spPr>
          <a:xfrm>
            <a:off x="741539" y="2044779"/>
            <a:ext cx="863423" cy="7633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/>
          <p:cNvPicPr preferRelativeResize="0"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0" y="1097280"/>
            <a:ext cx="4663440" cy="2743200"/>
          </a:xfrm>
          <a:prstGeom prst="rect">
            <a:avLst/>
          </a:prstGeom>
          <a:ln w="38100" cap="sq">
            <a:solidFill>
              <a:schemeClr val="accent3">
                <a:lumMod val="60000"/>
                <a:lumOff val="40000"/>
              </a:schemeClr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5" name="Content Placeholder 14"/>
          <p:cNvPicPr preferRelativeResize="0">
            <a:picLocks noGrp="1"/>
          </p:cNvPicPr>
          <p:nvPr>
            <p:ph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0" y="3931920"/>
            <a:ext cx="4663440" cy="2468880"/>
          </a:xfrm>
          <a:prstGeom prst="rect">
            <a:avLst/>
          </a:prstGeom>
          <a:ln w="38100" cap="sq">
            <a:solidFill>
              <a:schemeClr val="accent3">
                <a:lumMod val="60000"/>
                <a:lumOff val="40000"/>
              </a:schemeClr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29" name="Rectangle 28"/>
          <p:cNvSpPr/>
          <p:nvPr/>
        </p:nvSpPr>
        <p:spPr>
          <a:xfrm>
            <a:off x="7315200" y="5446841"/>
            <a:ext cx="4663440" cy="103059"/>
          </a:xfrm>
          <a:prstGeom prst="rect">
            <a:avLst/>
          </a:prstGeom>
          <a:noFill/>
          <a:ln w="41275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dirty="0">
              <a:solidFill>
                <a:sysClr val="windowText" lastClr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8368411" y="6641121"/>
            <a:ext cx="2430888" cy="43088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1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Number of quantity checking</a:t>
            </a:r>
          </a:p>
          <a:p>
            <a:pPr algn="ctr"/>
            <a:endParaRPr lang="en-US" sz="1100" dirty="0" smtClean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3" name="Rectangular Callout 22"/>
          <p:cNvSpPr/>
          <p:nvPr/>
        </p:nvSpPr>
        <p:spPr>
          <a:xfrm>
            <a:off x="2166019" y="1584849"/>
            <a:ext cx="2244436" cy="398784"/>
          </a:xfrm>
          <a:prstGeom prst="wedgeRectCallout">
            <a:avLst>
              <a:gd name="adj1" fmla="val -21574"/>
              <a:gd name="adj2" fmla="val 104190"/>
            </a:avLst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 smtClean="0"/>
              <a:t>   AOI ICX CCX 400</a:t>
            </a:r>
            <a:endParaRPr lang="en-US" dirty="0">
              <a:solidFill>
                <a:sysClr val="windowText" lastClr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49898" y="1103004"/>
            <a:ext cx="1405230" cy="60016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1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Checking all part of the component: screw, label, net,..</a:t>
            </a:r>
          </a:p>
        </p:txBody>
      </p:sp>
    </p:spTree>
    <p:extLst>
      <p:ext uri="{BB962C8B-B14F-4D97-AF65-F5344CB8AC3E}">
        <p14:creationId xmlns:p14="http://schemas.microsoft.com/office/powerpoint/2010/main" val="267372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2"/>
          <p:cNvPicPr preferRelativeResize="0">
            <a:picLocks noGrp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80" y="2194560"/>
            <a:ext cx="6400800" cy="4114800"/>
          </a:xfrm>
          <a:prstGeom prst="rect">
            <a:avLst/>
          </a:prstGeom>
          <a:ln w="38100" cap="sq">
            <a:solidFill>
              <a:schemeClr val="accent3">
                <a:lumMod val="60000"/>
                <a:lumOff val="40000"/>
              </a:schemeClr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grpSp>
        <p:nvGrpSpPr>
          <p:cNvPr id="6" name="群組 42"/>
          <p:cNvGrpSpPr/>
          <p:nvPr/>
        </p:nvGrpSpPr>
        <p:grpSpPr>
          <a:xfrm>
            <a:off x="195262" y="178409"/>
            <a:ext cx="11801476" cy="588751"/>
            <a:chOff x="195262" y="163202"/>
            <a:chExt cx="11801476" cy="588751"/>
          </a:xfrm>
        </p:grpSpPr>
        <p:sp>
          <p:nvSpPr>
            <p:cNvPr id="7" name="矩形: 圓角 43"/>
            <p:cNvSpPr/>
            <p:nvPr/>
          </p:nvSpPr>
          <p:spPr>
            <a:xfrm>
              <a:off x="195262" y="247970"/>
              <a:ext cx="11801476" cy="419217"/>
            </a:xfrm>
            <a:prstGeom prst="roundRect">
              <a:avLst>
                <a:gd name="adj" fmla="val 40804"/>
              </a:avLst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8000">
                  <a:schemeClr val="tx1">
                    <a:lumMod val="50000"/>
                    <a:lumOff val="50000"/>
                  </a:schemeClr>
                </a:gs>
                <a:gs pos="83000">
                  <a:schemeClr val="tx1">
                    <a:lumMod val="75000"/>
                    <a:lumOff val="25000"/>
                  </a:schemeClr>
                </a:gs>
                <a:gs pos="100000">
                  <a:schemeClr val="tx1">
                    <a:lumMod val="75000"/>
                    <a:lumOff val="25000"/>
                  </a:schemeClr>
                </a:gs>
              </a:gsLst>
              <a:lin ang="0" scaled="1"/>
              <a:tileRect/>
            </a:gradFill>
            <a:ln w="381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grpSp>
          <p:nvGrpSpPr>
            <p:cNvPr id="8" name="群組 44"/>
            <p:cNvGrpSpPr/>
            <p:nvPr/>
          </p:nvGrpSpPr>
          <p:grpSpPr>
            <a:xfrm>
              <a:off x="600729" y="163202"/>
              <a:ext cx="1038687" cy="588751"/>
              <a:chOff x="1782913" y="2529000"/>
              <a:chExt cx="3121572" cy="1800001"/>
            </a:xfrm>
          </p:grpSpPr>
          <p:sp>
            <p:nvSpPr>
              <p:cNvPr id="10" name="圆角矩形 15"/>
              <p:cNvSpPr/>
              <p:nvPr/>
            </p:nvSpPr>
            <p:spPr>
              <a:xfrm rot="2700000">
                <a:off x="1857839" y="2529000"/>
                <a:ext cx="1800000" cy="1800001"/>
              </a:xfrm>
              <a:prstGeom prst="roundRect">
                <a:avLst/>
              </a:prstGeom>
              <a:solidFill>
                <a:srgbClr val="34B2E4"/>
              </a:solidFill>
              <a:ln>
                <a:noFill/>
              </a:ln>
              <a:effectLst>
                <a:outerShdw blurRad="127000" algn="ctr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  <a:cs typeface="+mn-ea"/>
                  <a:sym typeface="+mn-lt"/>
                </a:endParaRPr>
              </a:p>
            </p:txBody>
          </p:sp>
          <p:sp>
            <p:nvSpPr>
              <p:cNvPr id="11" name="圆角矩形 16"/>
              <p:cNvSpPr/>
              <p:nvPr/>
            </p:nvSpPr>
            <p:spPr>
              <a:xfrm rot="2700000">
                <a:off x="1782913" y="2529000"/>
                <a:ext cx="1800000" cy="1800000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190500" algn="ctr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  <a:cs typeface="+mn-ea"/>
                  <a:sym typeface="+mn-lt"/>
                </a:endParaRPr>
              </a:p>
            </p:txBody>
          </p:sp>
          <p:pic>
            <p:nvPicPr>
              <p:cNvPr id="12" name="圖片 49" descr="一張含有 文字, 輪子, 美工圖案, 齒輪 的圖片&#10;&#10;自動產生的描述"/>
              <p:cNvPicPr>
                <a:picLocks noChangeAspect="1"/>
              </p:cNvPicPr>
              <p:nvPr/>
            </p:nvPicPr>
            <p:blipFill rotWithShape="1">
              <a:blip r:embed="rId3" cstate="print">
                <a:grayscl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3898"/>
              <a:stretch>
                <a:fillRect/>
              </a:stretch>
            </p:blipFill>
            <p:spPr>
              <a:xfrm rot="5400000">
                <a:off x="3709805" y="2875160"/>
                <a:ext cx="1281680" cy="110768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3" name="矩形 50"/>
              <p:cNvSpPr/>
              <p:nvPr/>
            </p:nvSpPr>
            <p:spPr>
              <a:xfrm>
                <a:off x="1831379" y="2819459"/>
                <a:ext cx="1703069" cy="13375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TW" sz="11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A4A4A4"/>
                    </a:solidFill>
                    <a:effectLst/>
                    <a:uLnTx/>
                    <a:uFillTx/>
                    <a:latin typeface="DengXian" panose="02010600030101010101" pitchFamily="2" charset="-122"/>
                    <a:ea typeface="DengXian" panose="02010600030101010101" pitchFamily="2" charset="-122"/>
                  </a:rPr>
                  <a:t>BG6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TW" sz="1100" b="1" dirty="0">
                    <a:solidFill>
                      <a:srgbClr val="A4A4A4"/>
                    </a:solidFill>
                    <a:latin typeface="DengXian" panose="02010600030101010101" pitchFamily="2" charset="-122"/>
                    <a:ea typeface="DengXian" panose="02010600030101010101" pitchFamily="2" charset="-122"/>
                  </a:rPr>
                  <a:t>PVN</a:t>
                </a:r>
                <a:endParaRPr kumimoji="0" lang="en-US" altLang="zh-TW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A4A4A4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</a:endParaRPr>
              </a:p>
            </p:txBody>
          </p:sp>
        </p:grpSp>
        <p:sp>
          <p:nvSpPr>
            <p:cNvPr id="9" name="文字方塊 45"/>
            <p:cNvSpPr txBox="1"/>
            <p:nvPr/>
          </p:nvSpPr>
          <p:spPr>
            <a:xfrm>
              <a:off x="1604962" y="196222"/>
              <a:ext cx="5431155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TW"/>
              </a:defPPr>
              <a:lvl1pPr defTabSz="837565">
                <a:defRPr sz="3200" b="1">
                  <a:solidFill>
                    <a:srgbClr val="2E9CC8"/>
                  </a:solidFill>
                  <a:latin typeface="DengXian" panose="02010600030101010101" pitchFamily="2" charset="-122"/>
                  <a:ea typeface="DengXian" panose="02010600030101010101" pitchFamily="2" charset="-122"/>
                </a:defRPr>
              </a:lvl1pPr>
            </a:lstStyle>
            <a:p>
              <a:r>
                <a:rPr lang="en-US" altLang="zh-TW" sz="2800" dirty="0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sym typeface="+mn-ea"/>
                </a:rPr>
                <a:t>Q1 –2026  Work Results</a:t>
              </a:r>
              <a:endParaRPr lang="en-US" altLang="zh-TW" sz="28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endParaRPr>
            </a:p>
          </p:txBody>
        </p:sp>
      </p:grpSp>
      <p:sp>
        <p:nvSpPr>
          <p:cNvPr id="28" name="Rectangle 27"/>
          <p:cNvSpPr/>
          <p:nvPr/>
        </p:nvSpPr>
        <p:spPr>
          <a:xfrm>
            <a:off x="8567760" y="2037993"/>
            <a:ext cx="1970115" cy="43088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1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Training on </a:t>
            </a:r>
            <a:r>
              <a:rPr lang="en-US" sz="11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cambrain</a:t>
            </a:r>
            <a:r>
              <a:rPr lang="en-US" sz="11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system</a:t>
            </a:r>
          </a:p>
          <a:p>
            <a:pPr algn="ctr"/>
            <a:endParaRPr lang="en-US" sz="1100" dirty="0" smtClean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35" name="Straight Arrow Connector 34"/>
          <p:cNvCxnSpPr/>
          <p:nvPr/>
        </p:nvCxnSpPr>
        <p:spPr>
          <a:xfrm>
            <a:off x="993757" y="2100374"/>
            <a:ext cx="1686944" cy="11592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>
            <a:off x="993757" y="2100375"/>
            <a:ext cx="953576" cy="20652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/>
          <p:cNvPicPr preferRelativeResize="0"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0" y="2468880"/>
            <a:ext cx="4572000" cy="3657600"/>
          </a:xfrm>
          <a:prstGeom prst="rect">
            <a:avLst/>
          </a:prstGeom>
          <a:ln w="38100" cap="sq">
            <a:solidFill>
              <a:schemeClr val="accent3">
                <a:lumMod val="60000"/>
                <a:lumOff val="40000"/>
              </a:schemeClr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8" name="Rectangular Callout 17"/>
          <p:cNvSpPr/>
          <p:nvPr/>
        </p:nvSpPr>
        <p:spPr>
          <a:xfrm>
            <a:off x="2156291" y="1584849"/>
            <a:ext cx="2244436" cy="398784"/>
          </a:xfrm>
          <a:prstGeom prst="wedgeRectCallout">
            <a:avLst>
              <a:gd name="adj1" fmla="val -21574"/>
              <a:gd name="adj2" fmla="val 104190"/>
            </a:avLst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 smtClean="0"/>
              <a:t>   AOI ICX Flex5</a:t>
            </a:r>
            <a:endParaRPr lang="en-US" dirty="0">
              <a:solidFill>
                <a:sysClr val="windowText" lastClr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9898" y="1103004"/>
            <a:ext cx="1405230" cy="60016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1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Checking all part of the component: net, OK, …</a:t>
            </a:r>
          </a:p>
        </p:txBody>
      </p:sp>
    </p:spTree>
    <p:extLst>
      <p:ext uri="{BB962C8B-B14F-4D97-AF65-F5344CB8AC3E}">
        <p14:creationId xmlns:p14="http://schemas.microsoft.com/office/powerpoint/2010/main" val="886032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 preferRelativeResize="0">
            <a:picLocks noGrp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80" y="2194560"/>
            <a:ext cx="6400800" cy="4114800"/>
          </a:xfrm>
          <a:prstGeom prst="rect">
            <a:avLst/>
          </a:prstGeom>
          <a:ln w="38100" cap="sq">
            <a:solidFill>
              <a:schemeClr val="accent3">
                <a:lumMod val="60000"/>
                <a:lumOff val="40000"/>
              </a:schemeClr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grpSp>
        <p:nvGrpSpPr>
          <p:cNvPr id="6" name="群組 42"/>
          <p:cNvGrpSpPr/>
          <p:nvPr/>
        </p:nvGrpSpPr>
        <p:grpSpPr>
          <a:xfrm>
            <a:off x="195262" y="178409"/>
            <a:ext cx="11801476" cy="588751"/>
            <a:chOff x="195262" y="163202"/>
            <a:chExt cx="11801476" cy="588751"/>
          </a:xfrm>
        </p:grpSpPr>
        <p:sp>
          <p:nvSpPr>
            <p:cNvPr id="7" name="矩形: 圓角 43"/>
            <p:cNvSpPr/>
            <p:nvPr/>
          </p:nvSpPr>
          <p:spPr>
            <a:xfrm>
              <a:off x="195262" y="247970"/>
              <a:ext cx="11801476" cy="419217"/>
            </a:xfrm>
            <a:prstGeom prst="roundRect">
              <a:avLst>
                <a:gd name="adj" fmla="val 40804"/>
              </a:avLst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8000">
                  <a:schemeClr val="tx1">
                    <a:lumMod val="50000"/>
                    <a:lumOff val="50000"/>
                  </a:schemeClr>
                </a:gs>
                <a:gs pos="83000">
                  <a:schemeClr val="tx1">
                    <a:lumMod val="75000"/>
                    <a:lumOff val="25000"/>
                  </a:schemeClr>
                </a:gs>
                <a:gs pos="100000">
                  <a:schemeClr val="tx1">
                    <a:lumMod val="75000"/>
                    <a:lumOff val="25000"/>
                  </a:schemeClr>
                </a:gs>
              </a:gsLst>
              <a:lin ang="0" scaled="1"/>
              <a:tileRect/>
            </a:gradFill>
            <a:ln w="381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grpSp>
          <p:nvGrpSpPr>
            <p:cNvPr id="8" name="群組 44"/>
            <p:cNvGrpSpPr/>
            <p:nvPr/>
          </p:nvGrpSpPr>
          <p:grpSpPr>
            <a:xfrm>
              <a:off x="600729" y="163202"/>
              <a:ext cx="1038687" cy="588751"/>
              <a:chOff x="1782913" y="2529000"/>
              <a:chExt cx="3121572" cy="1800001"/>
            </a:xfrm>
          </p:grpSpPr>
          <p:sp>
            <p:nvSpPr>
              <p:cNvPr id="10" name="圆角矩形 15"/>
              <p:cNvSpPr/>
              <p:nvPr/>
            </p:nvSpPr>
            <p:spPr>
              <a:xfrm rot="2700000">
                <a:off x="1857839" y="2529000"/>
                <a:ext cx="1800000" cy="1800001"/>
              </a:xfrm>
              <a:prstGeom prst="roundRect">
                <a:avLst/>
              </a:prstGeom>
              <a:solidFill>
                <a:srgbClr val="34B2E4"/>
              </a:solidFill>
              <a:ln>
                <a:noFill/>
              </a:ln>
              <a:effectLst>
                <a:outerShdw blurRad="127000" algn="ctr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  <a:cs typeface="+mn-ea"/>
                  <a:sym typeface="+mn-lt"/>
                </a:endParaRPr>
              </a:p>
            </p:txBody>
          </p:sp>
          <p:sp>
            <p:nvSpPr>
              <p:cNvPr id="11" name="圆角矩形 16"/>
              <p:cNvSpPr/>
              <p:nvPr/>
            </p:nvSpPr>
            <p:spPr>
              <a:xfrm rot="2700000">
                <a:off x="1782913" y="2529000"/>
                <a:ext cx="1800000" cy="1800000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190500" algn="ctr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  <a:cs typeface="+mn-ea"/>
                  <a:sym typeface="+mn-lt"/>
                </a:endParaRPr>
              </a:p>
            </p:txBody>
          </p:sp>
          <p:pic>
            <p:nvPicPr>
              <p:cNvPr id="12" name="圖片 49" descr="一張含有 文字, 輪子, 美工圖案, 齒輪 的圖片&#10;&#10;自動產生的描述"/>
              <p:cNvPicPr>
                <a:picLocks noChangeAspect="1"/>
              </p:cNvPicPr>
              <p:nvPr/>
            </p:nvPicPr>
            <p:blipFill rotWithShape="1">
              <a:blip r:embed="rId3" cstate="print">
                <a:grayscl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3898"/>
              <a:stretch>
                <a:fillRect/>
              </a:stretch>
            </p:blipFill>
            <p:spPr>
              <a:xfrm rot="5400000">
                <a:off x="3709805" y="2875160"/>
                <a:ext cx="1281680" cy="110768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3" name="矩形 50"/>
              <p:cNvSpPr/>
              <p:nvPr/>
            </p:nvSpPr>
            <p:spPr>
              <a:xfrm>
                <a:off x="1831379" y="2819459"/>
                <a:ext cx="1703069" cy="13375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TW" sz="11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A4A4A4"/>
                    </a:solidFill>
                    <a:effectLst/>
                    <a:uLnTx/>
                    <a:uFillTx/>
                    <a:latin typeface="DengXian" panose="02010600030101010101" pitchFamily="2" charset="-122"/>
                    <a:ea typeface="DengXian" panose="02010600030101010101" pitchFamily="2" charset="-122"/>
                  </a:rPr>
                  <a:t>BG6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TW" sz="1100" b="1" dirty="0">
                    <a:solidFill>
                      <a:srgbClr val="A4A4A4"/>
                    </a:solidFill>
                    <a:latin typeface="DengXian" panose="02010600030101010101" pitchFamily="2" charset="-122"/>
                    <a:ea typeface="DengXian" panose="02010600030101010101" pitchFamily="2" charset="-122"/>
                  </a:rPr>
                  <a:t>PVN</a:t>
                </a:r>
                <a:endParaRPr kumimoji="0" lang="en-US" altLang="zh-TW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A4A4A4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</a:endParaRPr>
              </a:p>
            </p:txBody>
          </p:sp>
        </p:grpSp>
        <p:sp>
          <p:nvSpPr>
            <p:cNvPr id="9" name="文字方塊 45"/>
            <p:cNvSpPr txBox="1"/>
            <p:nvPr/>
          </p:nvSpPr>
          <p:spPr>
            <a:xfrm>
              <a:off x="1604962" y="196222"/>
              <a:ext cx="5431155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TW"/>
              </a:defPPr>
              <a:lvl1pPr defTabSz="837565">
                <a:defRPr sz="3200" b="1">
                  <a:solidFill>
                    <a:srgbClr val="2E9CC8"/>
                  </a:solidFill>
                  <a:latin typeface="DengXian" panose="02010600030101010101" pitchFamily="2" charset="-122"/>
                  <a:ea typeface="DengXian" panose="02010600030101010101" pitchFamily="2" charset="-122"/>
                </a:defRPr>
              </a:lvl1pPr>
            </a:lstStyle>
            <a:p>
              <a:r>
                <a:rPr lang="en-US" altLang="zh-TW" sz="2800" dirty="0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sym typeface="+mn-ea"/>
                </a:rPr>
                <a:t>Q1 –2026  Work Results</a:t>
              </a:r>
              <a:endParaRPr lang="en-US" altLang="zh-TW" sz="28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endParaRPr>
            </a:p>
          </p:txBody>
        </p:sp>
      </p:grpSp>
      <p:sp>
        <p:nvSpPr>
          <p:cNvPr id="28" name="Rectangle 27"/>
          <p:cNvSpPr/>
          <p:nvPr/>
        </p:nvSpPr>
        <p:spPr>
          <a:xfrm>
            <a:off x="8616142" y="2037993"/>
            <a:ext cx="1970115" cy="43088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1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Training on </a:t>
            </a:r>
            <a:r>
              <a:rPr lang="en-US" sz="11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cambrain</a:t>
            </a:r>
            <a:r>
              <a:rPr lang="en-US" sz="11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system</a:t>
            </a:r>
          </a:p>
          <a:p>
            <a:pPr algn="ctr"/>
            <a:endParaRPr lang="en-US" sz="1100" dirty="0" smtClean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35" name="Straight Arrow Connector 34"/>
          <p:cNvCxnSpPr/>
          <p:nvPr/>
        </p:nvCxnSpPr>
        <p:spPr>
          <a:xfrm>
            <a:off x="702615" y="1918574"/>
            <a:ext cx="1060005" cy="14754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>
            <a:off x="702615" y="1918574"/>
            <a:ext cx="291142" cy="15273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/>
          <p:cNvPicPr preferRelativeResize="0"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0" y="2468880"/>
            <a:ext cx="4572000" cy="3657600"/>
          </a:xfrm>
          <a:prstGeom prst="rect">
            <a:avLst/>
          </a:prstGeom>
          <a:ln w="38100" cap="sq">
            <a:solidFill>
              <a:schemeClr val="accent3">
                <a:lumMod val="60000"/>
                <a:lumOff val="40000"/>
              </a:schemeClr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8" name="Rectangular Callout 17"/>
          <p:cNvSpPr/>
          <p:nvPr/>
        </p:nvSpPr>
        <p:spPr>
          <a:xfrm>
            <a:off x="2156291" y="1584849"/>
            <a:ext cx="2244436" cy="398784"/>
          </a:xfrm>
          <a:prstGeom prst="wedgeRectCallout">
            <a:avLst>
              <a:gd name="adj1" fmla="val -21574"/>
              <a:gd name="adj2" fmla="val 104190"/>
            </a:avLst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 smtClean="0"/>
              <a:t>   AOI ICX Flex8</a:t>
            </a:r>
            <a:endParaRPr lang="en-US" dirty="0">
              <a:solidFill>
                <a:sysClr val="windowText" lastClr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6143" y="957353"/>
            <a:ext cx="1405230" cy="60016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1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Checking all part of the component: net, OK,…</a:t>
            </a:r>
          </a:p>
        </p:txBody>
      </p:sp>
    </p:spTree>
    <p:extLst>
      <p:ext uri="{BB962C8B-B14F-4D97-AF65-F5344CB8AC3E}">
        <p14:creationId xmlns:p14="http://schemas.microsoft.com/office/powerpoint/2010/main" val="31657999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2"/>
          <p:cNvPicPr preferRelativeResize="0">
            <a:picLocks noGrp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80" y="2194560"/>
            <a:ext cx="6400800" cy="4114800"/>
          </a:xfrm>
          <a:prstGeom prst="rect">
            <a:avLst/>
          </a:prstGeom>
          <a:ln w="38100" cap="sq">
            <a:solidFill>
              <a:schemeClr val="accent3">
                <a:lumMod val="60000"/>
                <a:lumOff val="40000"/>
              </a:schemeClr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grpSp>
        <p:nvGrpSpPr>
          <p:cNvPr id="6" name="群組 42"/>
          <p:cNvGrpSpPr/>
          <p:nvPr/>
        </p:nvGrpSpPr>
        <p:grpSpPr>
          <a:xfrm>
            <a:off x="195262" y="178409"/>
            <a:ext cx="11801476" cy="588751"/>
            <a:chOff x="195262" y="163202"/>
            <a:chExt cx="11801476" cy="588751"/>
          </a:xfrm>
        </p:grpSpPr>
        <p:sp>
          <p:nvSpPr>
            <p:cNvPr id="7" name="矩形: 圓角 43"/>
            <p:cNvSpPr/>
            <p:nvPr/>
          </p:nvSpPr>
          <p:spPr>
            <a:xfrm>
              <a:off x="195262" y="247970"/>
              <a:ext cx="11801476" cy="419217"/>
            </a:xfrm>
            <a:prstGeom prst="roundRect">
              <a:avLst>
                <a:gd name="adj" fmla="val 40804"/>
              </a:avLst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8000">
                  <a:schemeClr val="tx1">
                    <a:lumMod val="50000"/>
                    <a:lumOff val="50000"/>
                  </a:schemeClr>
                </a:gs>
                <a:gs pos="83000">
                  <a:schemeClr val="tx1">
                    <a:lumMod val="75000"/>
                    <a:lumOff val="25000"/>
                  </a:schemeClr>
                </a:gs>
                <a:gs pos="100000">
                  <a:schemeClr val="tx1">
                    <a:lumMod val="75000"/>
                    <a:lumOff val="25000"/>
                  </a:schemeClr>
                </a:gs>
              </a:gsLst>
              <a:lin ang="0" scaled="1"/>
              <a:tileRect/>
            </a:gradFill>
            <a:ln w="381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grpSp>
          <p:nvGrpSpPr>
            <p:cNvPr id="8" name="群組 44"/>
            <p:cNvGrpSpPr/>
            <p:nvPr/>
          </p:nvGrpSpPr>
          <p:grpSpPr>
            <a:xfrm>
              <a:off x="600729" y="163202"/>
              <a:ext cx="1038687" cy="588751"/>
              <a:chOff x="1782913" y="2529000"/>
              <a:chExt cx="3121572" cy="1800001"/>
            </a:xfrm>
          </p:grpSpPr>
          <p:sp>
            <p:nvSpPr>
              <p:cNvPr id="10" name="圆角矩形 15"/>
              <p:cNvSpPr/>
              <p:nvPr/>
            </p:nvSpPr>
            <p:spPr>
              <a:xfrm rot="2700000">
                <a:off x="1857839" y="2529000"/>
                <a:ext cx="1800000" cy="1800001"/>
              </a:xfrm>
              <a:prstGeom prst="roundRect">
                <a:avLst/>
              </a:prstGeom>
              <a:solidFill>
                <a:srgbClr val="34B2E4"/>
              </a:solidFill>
              <a:ln>
                <a:noFill/>
              </a:ln>
              <a:effectLst>
                <a:outerShdw blurRad="127000" algn="ctr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  <a:cs typeface="+mn-ea"/>
                  <a:sym typeface="+mn-lt"/>
                </a:endParaRPr>
              </a:p>
            </p:txBody>
          </p:sp>
          <p:sp>
            <p:nvSpPr>
              <p:cNvPr id="11" name="圆角矩形 16"/>
              <p:cNvSpPr/>
              <p:nvPr/>
            </p:nvSpPr>
            <p:spPr>
              <a:xfrm rot="2700000">
                <a:off x="1782913" y="2529000"/>
                <a:ext cx="1800000" cy="1800000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190500" algn="ctr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  <a:cs typeface="+mn-ea"/>
                  <a:sym typeface="+mn-lt"/>
                </a:endParaRPr>
              </a:p>
            </p:txBody>
          </p:sp>
          <p:pic>
            <p:nvPicPr>
              <p:cNvPr id="12" name="圖片 49" descr="一張含有 文字, 輪子, 美工圖案, 齒輪 的圖片&#10;&#10;自動產生的描述"/>
              <p:cNvPicPr>
                <a:picLocks noChangeAspect="1"/>
              </p:cNvPicPr>
              <p:nvPr/>
            </p:nvPicPr>
            <p:blipFill rotWithShape="1">
              <a:blip r:embed="rId3" cstate="print">
                <a:grayscl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3898"/>
              <a:stretch>
                <a:fillRect/>
              </a:stretch>
            </p:blipFill>
            <p:spPr>
              <a:xfrm rot="5400000">
                <a:off x="3709805" y="2875160"/>
                <a:ext cx="1281680" cy="110768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3" name="矩形 50"/>
              <p:cNvSpPr/>
              <p:nvPr/>
            </p:nvSpPr>
            <p:spPr>
              <a:xfrm>
                <a:off x="1831379" y="2819459"/>
                <a:ext cx="1703069" cy="13375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TW" sz="11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A4A4A4"/>
                    </a:solidFill>
                    <a:effectLst/>
                    <a:uLnTx/>
                    <a:uFillTx/>
                    <a:latin typeface="DengXian" panose="02010600030101010101" pitchFamily="2" charset="-122"/>
                    <a:ea typeface="DengXian" panose="02010600030101010101" pitchFamily="2" charset="-122"/>
                  </a:rPr>
                  <a:t>BG6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TW" sz="1100" b="1" dirty="0">
                    <a:solidFill>
                      <a:srgbClr val="A4A4A4"/>
                    </a:solidFill>
                    <a:latin typeface="DengXian" panose="02010600030101010101" pitchFamily="2" charset="-122"/>
                    <a:ea typeface="DengXian" panose="02010600030101010101" pitchFamily="2" charset="-122"/>
                  </a:rPr>
                  <a:t>PVN</a:t>
                </a:r>
                <a:endParaRPr kumimoji="0" lang="en-US" altLang="zh-TW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A4A4A4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</a:endParaRPr>
              </a:p>
            </p:txBody>
          </p:sp>
        </p:grpSp>
        <p:sp>
          <p:nvSpPr>
            <p:cNvPr id="9" name="文字方塊 45"/>
            <p:cNvSpPr txBox="1"/>
            <p:nvPr/>
          </p:nvSpPr>
          <p:spPr>
            <a:xfrm>
              <a:off x="1604962" y="196222"/>
              <a:ext cx="5431155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TW"/>
              </a:defPPr>
              <a:lvl1pPr defTabSz="837565">
                <a:defRPr sz="3200" b="1">
                  <a:solidFill>
                    <a:srgbClr val="2E9CC8"/>
                  </a:solidFill>
                  <a:latin typeface="DengXian" panose="02010600030101010101" pitchFamily="2" charset="-122"/>
                  <a:ea typeface="DengXian" panose="02010600030101010101" pitchFamily="2" charset="-122"/>
                </a:defRPr>
              </a:lvl1pPr>
            </a:lstStyle>
            <a:p>
              <a:r>
                <a:rPr lang="en-US" altLang="zh-TW" sz="2800" dirty="0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sym typeface="+mn-ea"/>
                </a:rPr>
                <a:t>Q1 –2026  Work Results</a:t>
              </a:r>
              <a:endParaRPr lang="en-US" altLang="zh-TW" sz="28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endParaRPr>
            </a:p>
          </p:txBody>
        </p:sp>
      </p:grpSp>
      <p:sp>
        <p:nvSpPr>
          <p:cNvPr id="28" name="Rectangle 27"/>
          <p:cNvSpPr/>
          <p:nvPr/>
        </p:nvSpPr>
        <p:spPr>
          <a:xfrm>
            <a:off x="8616142" y="2037993"/>
            <a:ext cx="1970115" cy="43088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1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Training on </a:t>
            </a:r>
            <a:r>
              <a:rPr lang="en-US" sz="11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cambrain</a:t>
            </a:r>
            <a:r>
              <a:rPr lang="en-US" sz="11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system</a:t>
            </a:r>
          </a:p>
          <a:p>
            <a:pPr algn="ctr"/>
            <a:endParaRPr lang="en-US" sz="1100" dirty="0" smtClean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35" name="Straight Arrow Connector 34"/>
          <p:cNvCxnSpPr/>
          <p:nvPr/>
        </p:nvCxnSpPr>
        <p:spPr>
          <a:xfrm>
            <a:off x="793865" y="1849878"/>
            <a:ext cx="1566950" cy="12424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>
            <a:off x="793865" y="1849878"/>
            <a:ext cx="199892" cy="13338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ular Callout 29"/>
          <p:cNvSpPr/>
          <p:nvPr/>
        </p:nvSpPr>
        <p:spPr>
          <a:xfrm>
            <a:off x="2156291" y="1584849"/>
            <a:ext cx="2244436" cy="398784"/>
          </a:xfrm>
          <a:prstGeom prst="wedgeRectCallout">
            <a:avLst>
              <a:gd name="adj1" fmla="val -21574"/>
              <a:gd name="adj2" fmla="val 104190"/>
            </a:avLst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 smtClean="0"/>
              <a:t>   AOI ICX 8100</a:t>
            </a:r>
            <a:endParaRPr lang="en-US" dirty="0">
              <a:solidFill>
                <a:sysClr val="windowText" lastClr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2" name="Picture 1"/>
          <p:cNvPicPr preferRelativeResize="0"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0" y="2468880"/>
            <a:ext cx="4572000" cy="3657600"/>
          </a:xfrm>
          <a:prstGeom prst="rect">
            <a:avLst/>
          </a:prstGeom>
          <a:ln w="38100" cap="sq">
            <a:solidFill>
              <a:schemeClr val="accent3">
                <a:lumMod val="60000"/>
                <a:lumOff val="40000"/>
              </a:schemeClr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7" name="Rectangle 16"/>
          <p:cNvSpPr/>
          <p:nvPr/>
        </p:nvSpPr>
        <p:spPr>
          <a:xfrm>
            <a:off x="69848" y="892698"/>
            <a:ext cx="1405230" cy="76944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1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Checking all part of the component: label, net, OK, screw,…</a:t>
            </a:r>
          </a:p>
        </p:txBody>
      </p:sp>
    </p:spTree>
    <p:extLst>
      <p:ext uri="{BB962C8B-B14F-4D97-AF65-F5344CB8AC3E}">
        <p14:creationId xmlns:p14="http://schemas.microsoft.com/office/powerpoint/2010/main" val="9861543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 preferRelativeResize="0"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7208" y="2391146"/>
            <a:ext cx="5760720" cy="4114800"/>
          </a:xfrm>
          <a:prstGeom prst="rect">
            <a:avLst/>
          </a:prstGeom>
          <a:ln w="38100" cap="sq">
            <a:solidFill>
              <a:schemeClr val="accent3">
                <a:lumMod val="60000"/>
                <a:lumOff val="40000"/>
              </a:schemeClr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-48638"/>
            <a:ext cx="10515600" cy="961957"/>
          </a:xfrm>
        </p:spPr>
        <p:txBody>
          <a:bodyPr>
            <a:noAutofit/>
          </a:bodyPr>
          <a:lstStyle/>
          <a:p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2.New model training report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545378"/>
            <a:ext cx="10515600" cy="2215430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altLang="en-US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Problem</a:t>
            </a:r>
            <a:r>
              <a:rPr lang="en-US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-The old version (v0.4.0.0) often appear error and t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ake a lot of time to training </a:t>
            </a:r>
          </a:p>
          <a:p>
            <a:pPr mar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-AOI program sometime appear error when running.</a:t>
            </a:r>
          </a:p>
          <a:p>
            <a:pPr algn="just">
              <a:lnSpc>
                <a:spcPct val="150000"/>
              </a:lnSpc>
              <a:buNone/>
            </a:pPr>
            <a:r>
              <a:rPr lang="en-US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Result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-The </a:t>
            </a:r>
            <a:r>
              <a:rPr lang="en-US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>model training accuracy to 100%</a:t>
            </a:r>
          </a:p>
          <a:p>
            <a:pPr mar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-AOI model running more effective</a:t>
            </a:r>
            <a:endParaRPr lang="en-US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Content Placeholder 3"/>
          <p:cNvPicPr preferRelativeResize="0"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072" y="2391146"/>
            <a:ext cx="5760720" cy="4114800"/>
          </a:xfrm>
          <a:prstGeom prst="rect">
            <a:avLst/>
          </a:prstGeom>
          <a:ln w="38100" cap="sq">
            <a:solidFill>
              <a:schemeClr val="accent3">
                <a:lumMod val="60000"/>
                <a:lumOff val="40000"/>
              </a:schemeClr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0" name="Content Placeholder 2"/>
          <p:cNvSpPr txBox="1">
            <a:spLocks/>
          </p:cNvSpPr>
          <p:nvPr/>
        </p:nvSpPr>
        <p:spPr>
          <a:xfrm>
            <a:off x="6360268" y="617794"/>
            <a:ext cx="4807085" cy="164875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en-US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Solution:</a:t>
            </a:r>
          </a:p>
          <a:p>
            <a:pPr marL="0" indent="0" algn="just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- Change the new version to (v0.4.14.0)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885301" y="2858407"/>
            <a:ext cx="963216" cy="542881"/>
          </a:xfrm>
          <a:prstGeom prst="rect">
            <a:avLst/>
          </a:prstGeom>
          <a:noFill/>
          <a:ln w="41275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dirty="0">
              <a:solidFill>
                <a:sysClr val="windowText" lastClr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73692" y="3010807"/>
            <a:ext cx="963216" cy="542881"/>
          </a:xfrm>
          <a:prstGeom prst="rect">
            <a:avLst/>
          </a:prstGeom>
          <a:noFill/>
          <a:ln w="41275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dirty="0">
              <a:solidFill>
                <a:sysClr val="windowText" lastClr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912780" y="3553688"/>
            <a:ext cx="1384914" cy="488008"/>
          </a:xfrm>
          <a:prstGeom prst="rect">
            <a:avLst/>
          </a:prstGeom>
          <a:noFill/>
          <a:ln w="41275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dirty="0">
              <a:solidFill>
                <a:sysClr val="windowText" lastClr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38200" y="3686816"/>
            <a:ext cx="1253247" cy="486533"/>
          </a:xfrm>
          <a:prstGeom prst="rect">
            <a:avLst/>
          </a:prstGeom>
          <a:noFill/>
          <a:ln w="41275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dirty="0">
              <a:solidFill>
                <a:sysClr val="windowText" lastClr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2223191" y="6596390"/>
            <a:ext cx="1722482" cy="26161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1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New version training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04953" y="6556658"/>
            <a:ext cx="1405230" cy="26161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1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Old version training</a:t>
            </a:r>
          </a:p>
        </p:txBody>
      </p:sp>
    </p:spTree>
    <p:extLst>
      <p:ext uri="{BB962C8B-B14F-4D97-AF65-F5344CB8AC3E}">
        <p14:creationId xmlns:p14="http://schemas.microsoft.com/office/powerpoint/2010/main" val="34363249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 preferRelativeResize="0">
            <a:picLocks noGrp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5497" y="2398021"/>
            <a:ext cx="4389120" cy="3200400"/>
          </a:xfrm>
          <a:prstGeom prst="rect">
            <a:avLst/>
          </a:prstGeom>
          <a:ln w="38100" cap="sq">
            <a:solidFill>
              <a:srgbClr val="FFC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5" name="Picture 4"/>
          <p:cNvPicPr preferRelativeResize="0"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747" y="2388446"/>
            <a:ext cx="4389120" cy="3200400"/>
          </a:xfrm>
          <a:prstGeom prst="rect">
            <a:avLst/>
          </a:prstGeom>
          <a:ln w="38100" cap="sq">
            <a:solidFill>
              <a:srgbClr val="FFC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cxnSp>
        <p:nvCxnSpPr>
          <p:cNvPr id="10" name="Straight Arrow Connector 9"/>
          <p:cNvCxnSpPr/>
          <p:nvPr/>
        </p:nvCxnSpPr>
        <p:spPr>
          <a:xfrm flipH="1">
            <a:off x="3287950" y="3910519"/>
            <a:ext cx="447474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3. AOI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4K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Panasonic Carton 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change position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Content Placeholder 2"/>
          <p:cNvSpPr txBox="1">
            <a:spLocks/>
          </p:cNvSpPr>
          <p:nvPr/>
        </p:nvSpPr>
        <p:spPr>
          <a:xfrm>
            <a:off x="838200" y="1391055"/>
            <a:ext cx="10515600" cy="8411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IE have plan AOI Panasonic carton change position 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511687" y="5865879"/>
            <a:ext cx="4959485" cy="738664"/>
          </a:xfrm>
          <a:prstGeom prst="rect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DengXian" panose="02010600030101010101" pitchFamily="2" charset="-122"/>
                <a:ea typeface="DengXian" panose="02010600030101010101" pitchFamily="2" charset="-122"/>
              </a:rPr>
              <a:t>1.Change AOI Carton position</a:t>
            </a:r>
            <a:r>
              <a:rPr kumimoji="0" lang="en-US" sz="1400" b="0" i="0" u="none" strike="noStrike" kern="1200" cap="none" spc="0" normalizeH="0" noProof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DengXian" panose="02010600030101010101" pitchFamily="2" charset="-122"/>
                <a:ea typeface="DengXian" panose="02010600030101010101" pitchFamily="2" charset="-122"/>
              </a:rPr>
              <a:t> go to left about 80 cm</a:t>
            </a:r>
          </a:p>
          <a:p>
            <a:pPr marL="0" marR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sz="1400" baseline="0" dirty="0" smtClean="0">
                <a:solidFill>
                  <a:schemeClr val="bg1">
                    <a:lumMod val="50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2.Set up </a:t>
            </a:r>
            <a:r>
              <a:rPr lang="en-US" sz="1400" baseline="0" dirty="0" err="1" smtClean="0">
                <a:solidFill>
                  <a:schemeClr val="bg1">
                    <a:lumMod val="50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sfis</a:t>
            </a:r>
            <a:r>
              <a:rPr lang="en-US" sz="1400" baseline="0" dirty="0" smtClean="0">
                <a:solidFill>
                  <a:schemeClr val="bg1">
                    <a:lumMod val="50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 line,</a:t>
            </a:r>
            <a:r>
              <a:rPr lang="en-US" sz="1400" dirty="0" smtClean="0">
                <a:solidFill>
                  <a:schemeClr val="bg1">
                    <a:lumMod val="50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 camera, PC, led light, power outlet.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515627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3. AOI 4K Panasonic Carton change position</a:t>
            </a:r>
            <a:endParaRPr lang="en-US" sz="2000" dirty="0"/>
          </a:p>
        </p:txBody>
      </p:sp>
      <p:pic>
        <p:nvPicPr>
          <p:cNvPr id="4" name="Picture 3"/>
          <p:cNvPicPr preferRelativeResize="0"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90688"/>
            <a:ext cx="4389120" cy="3200400"/>
          </a:xfrm>
          <a:prstGeom prst="rect">
            <a:avLst/>
          </a:prstGeom>
          <a:ln w="38100" cap="sq">
            <a:solidFill>
              <a:srgbClr val="FFC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5" name="Picture 4"/>
          <p:cNvPicPr preferRelativeResize="0"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8916" y="1690688"/>
            <a:ext cx="4389120" cy="3200400"/>
          </a:xfrm>
          <a:prstGeom prst="rect">
            <a:avLst/>
          </a:prstGeom>
          <a:ln w="38100" cap="sq">
            <a:solidFill>
              <a:srgbClr val="FFC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cxnSp>
        <p:nvCxnSpPr>
          <p:cNvPr id="6" name="Straight Arrow Connector 5"/>
          <p:cNvCxnSpPr/>
          <p:nvPr/>
        </p:nvCxnSpPr>
        <p:spPr>
          <a:xfrm flipV="1">
            <a:off x="3732180" y="3803515"/>
            <a:ext cx="800909" cy="2594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2151852" y="5029489"/>
            <a:ext cx="1405230" cy="26161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1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Old position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70861" y="5029489"/>
            <a:ext cx="1405230" cy="26161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1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New position</a:t>
            </a:r>
          </a:p>
        </p:txBody>
      </p:sp>
    </p:spTree>
    <p:extLst>
      <p:ext uri="{BB962C8B-B14F-4D97-AF65-F5344CB8AC3E}">
        <p14:creationId xmlns:p14="http://schemas.microsoft.com/office/powerpoint/2010/main" val="10124870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2452EDA3-6F86-8511-9D06-A874AED1E8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1843527"/>
              </p:ext>
            </p:extLst>
          </p:nvPr>
        </p:nvGraphicFramePr>
        <p:xfrm>
          <a:off x="604428" y="1812175"/>
          <a:ext cx="10983143" cy="3240691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3626380">
                  <a:extLst>
                    <a:ext uri="{9D8B030D-6E8A-4147-A177-3AD203B41FA5}">
                      <a16:colId xmlns:a16="http://schemas.microsoft.com/office/drawing/2014/main" val="3861677689"/>
                    </a:ext>
                  </a:extLst>
                </a:gridCol>
                <a:gridCol w="1404851">
                  <a:extLst>
                    <a:ext uri="{9D8B030D-6E8A-4147-A177-3AD203B41FA5}">
                      <a16:colId xmlns:a16="http://schemas.microsoft.com/office/drawing/2014/main" val="1269423716"/>
                    </a:ext>
                  </a:extLst>
                </a:gridCol>
                <a:gridCol w="3067399">
                  <a:extLst>
                    <a:ext uri="{9D8B030D-6E8A-4147-A177-3AD203B41FA5}">
                      <a16:colId xmlns:a16="http://schemas.microsoft.com/office/drawing/2014/main" val="1578931625"/>
                    </a:ext>
                  </a:extLst>
                </a:gridCol>
                <a:gridCol w="2884513">
                  <a:extLst>
                    <a:ext uri="{9D8B030D-6E8A-4147-A177-3AD203B41FA5}">
                      <a16:colId xmlns:a16="http://schemas.microsoft.com/office/drawing/2014/main" val="420727643"/>
                    </a:ext>
                  </a:extLst>
                </a:gridCol>
              </a:tblGrid>
              <a:tr h="80356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  <a:sym typeface="+mn-ea"/>
                        </a:rPr>
                        <a:t>2025 Q3 Work and Self-development plan </a:t>
                      </a:r>
                      <a:endParaRPr lang="zh-TW" altLang="en-US" sz="1200" b="1" dirty="0"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rgbClr val="BA996E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Achievement rate</a:t>
                      </a:r>
                      <a:endParaRPr lang="zh-TW" altLang="en-US" sz="1200" b="1" dirty="0"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rgbClr val="BA996E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kern="1200" dirty="0">
                          <a:solidFill>
                            <a:schemeClr val="lt1"/>
                          </a:solidFill>
                          <a:effectLst/>
                          <a:latin typeface="Arial" panose="020B0604020202020204" pitchFamily="34" charset="0"/>
                          <a:ea typeface="Microsoft JhengHei" panose="020B0604030504040204" pitchFamily="34" charset="-120"/>
                          <a:cs typeface="Arial" panose="020B0604020202020204" pitchFamily="34" charset="0"/>
                        </a:rPr>
                        <a:t>The reason </a:t>
                      </a:r>
                      <a:endParaRPr lang="zh-TW" altLang="en-US" sz="1200" b="1" dirty="0">
                        <a:latin typeface="Arial" panose="020B0604020202020204" pitchFamily="34" charset="0"/>
                        <a:ea typeface="Microsoft JhengHei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rgbClr val="BA996E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kern="1200" dirty="0">
                          <a:solidFill>
                            <a:schemeClr val="lt1"/>
                          </a:solidFill>
                          <a:effectLst/>
                          <a:latin typeface="Arial" panose="020B0604020202020204" pitchFamily="34" charset="0"/>
                          <a:ea typeface="Microsoft JhengHei" panose="020B0604030504040204" pitchFamily="34" charset="-120"/>
                          <a:cs typeface="Arial" panose="020B0604020202020204" pitchFamily="34" charset="0"/>
                        </a:rPr>
                        <a:t>The plan for completion</a:t>
                      </a:r>
                    </a:p>
                  </a:txBody>
                  <a:tcPr anchor="ctr">
                    <a:solidFill>
                      <a:srgbClr val="BA996E">
                        <a:alpha val="7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302271"/>
                  </a:ext>
                </a:extLst>
              </a:tr>
              <a:tr h="578484"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 </a:t>
                      </a:r>
                      <a:r>
                        <a:rPr lang="en-US" sz="1200" b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Continue</a:t>
                      </a:r>
                      <a:r>
                        <a:rPr lang="en-US" sz="1200" b="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flow-up AOI </a:t>
                      </a:r>
                      <a:r>
                        <a:rPr lang="en-US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device</a:t>
                      </a:r>
                      <a:r>
                        <a:rPr lang="en-US" sz="1200" b="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on production line</a:t>
                      </a:r>
                    </a:p>
                    <a:p>
                      <a:pPr algn="l"/>
                      <a:endParaRPr lang="zh-TW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90%</a:t>
                      </a:r>
                      <a:endParaRPr lang="zh-TW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endParaRPr lang="zh-TW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FontTx/>
                        <a:buNone/>
                      </a:pPr>
                      <a:endParaRPr lang="en-US" altLang="zh-TW" sz="1200" baseline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  <a:alpha val="7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6463552"/>
                  </a:ext>
                </a:extLst>
              </a:tr>
              <a:tr h="578484"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 Improve the performance of AOI device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75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90%</a:t>
                      </a:r>
                      <a:endParaRPr lang="zh-TW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75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TW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75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endParaRPr lang="zh-TW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75000"/>
                        <a:alpha val="7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7970917"/>
                  </a:ext>
                </a:extLst>
              </a:tr>
              <a:tr h="578484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 </a:t>
                      </a:r>
                      <a:r>
                        <a:rPr lang="en-US" altLang="zh-TW" sz="1200" kern="1200" dirty="0" smtClean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Improve coding skills to debug, optimize the AOI program</a:t>
                      </a:r>
                      <a:endParaRPr 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70%</a:t>
                      </a:r>
                      <a:endParaRPr lang="zh-TW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altLang="zh-TW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AOI </a:t>
                      </a:r>
                      <a:r>
                        <a:rPr lang="en-US" altLang="zh-TW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programs </a:t>
                      </a:r>
                      <a:r>
                        <a:rPr lang="en-US" altLang="zh-TW" sz="12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using Python ,</a:t>
                      </a:r>
                      <a:r>
                        <a:rPr lang="en-US" altLang="zh-TW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C/C#.I need </a:t>
                      </a:r>
                      <a:r>
                        <a:rPr lang="en-US" altLang="zh-TW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 learn more about</a:t>
                      </a:r>
                      <a:r>
                        <a:rPr lang="en-US" altLang="zh-TW" sz="12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TW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 understand how it </a:t>
                      </a:r>
                      <a:r>
                        <a:rPr lang="en-US" altLang="zh-TW" sz="12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works and debug when it appear error.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FontTx/>
                        <a:buNone/>
                      </a:pPr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- </a:t>
                      </a:r>
                      <a:r>
                        <a:rPr lang="en-US" altLang="zh-TW" sz="1200" kern="1200" dirty="0" smtClean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Reading program code to understand.</a:t>
                      </a:r>
                      <a:endParaRPr lang="en-US" altLang="zh-TW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indent="0" algn="l" defTabSz="914400" rtl="0" eaLnBrk="1" latinLnBrk="0" hangingPunct="1">
                        <a:buFontTx/>
                        <a:buNone/>
                      </a:pPr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- Practice </a:t>
                      </a:r>
                      <a:r>
                        <a:rPr lang="en-US" altLang="zh-TW" sz="1200" kern="1200" dirty="0" smtClean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debug code.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  <a:alpha val="7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2448663"/>
                  </a:ext>
                </a:extLst>
              </a:tr>
              <a:tr h="57848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 smtClean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4.</a:t>
                      </a:r>
                      <a:r>
                        <a:rPr lang="en-US" altLang="zh-TW" sz="1200" kern="1200" dirty="0" smtClean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 Continue learning Chinese (HK1, HK2) for improve communication skills .</a:t>
                      </a:r>
                      <a:endParaRPr lang="zh-TW" altLang="en-US" sz="1200" kern="1200" dirty="0" smtClean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algn="l" defTabSz="914400" rtl="0" eaLnBrk="1" latinLnBrk="0" hangingPunct="1"/>
                      <a:endParaRPr 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75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30%</a:t>
                      </a:r>
                      <a:endParaRPr lang="zh-TW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75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altLang="zh-TW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 </a:t>
                      </a:r>
                      <a:r>
                        <a:rPr lang="en-US" altLang="zh-TW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started learning</a:t>
                      </a:r>
                      <a:r>
                        <a:rPr lang="en-US" altLang="zh-TW" sz="12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HK1 lately because the course not enough member</a:t>
                      </a:r>
                      <a:endParaRPr lang="zh-TW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75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 Learning HK1 and HK2 more diligence</a:t>
                      </a:r>
                      <a:endParaRPr lang="zh-TW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75000"/>
                        <a:alpha val="7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032022"/>
                  </a:ext>
                </a:extLst>
              </a:tr>
            </a:tbl>
          </a:graphicData>
        </a:graphic>
      </p:graphicFrame>
      <p:grpSp>
        <p:nvGrpSpPr>
          <p:cNvPr id="5" name="群組 42">
            <a:extLst>
              <a:ext uri="{FF2B5EF4-FFF2-40B4-BE49-F238E27FC236}">
                <a16:creationId xmlns:a16="http://schemas.microsoft.com/office/drawing/2014/main" id="{D08B3026-FC58-3EBA-1097-199AFEA35AFB}"/>
              </a:ext>
            </a:extLst>
          </p:cNvPr>
          <p:cNvGrpSpPr/>
          <p:nvPr/>
        </p:nvGrpSpPr>
        <p:grpSpPr>
          <a:xfrm>
            <a:off x="195262" y="178409"/>
            <a:ext cx="11801476" cy="588751"/>
            <a:chOff x="195262" y="163202"/>
            <a:chExt cx="11801476" cy="588751"/>
          </a:xfrm>
        </p:grpSpPr>
        <p:sp>
          <p:nvSpPr>
            <p:cNvPr id="6" name="矩形: 圓角 43">
              <a:extLst>
                <a:ext uri="{FF2B5EF4-FFF2-40B4-BE49-F238E27FC236}">
                  <a16:creationId xmlns:a16="http://schemas.microsoft.com/office/drawing/2014/main" id="{22C07996-C0F5-351D-35F1-34C297084CAC}"/>
                </a:ext>
              </a:extLst>
            </p:cNvPr>
            <p:cNvSpPr/>
            <p:nvPr/>
          </p:nvSpPr>
          <p:spPr>
            <a:xfrm>
              <a:off x="195262" y="247970"/>
              <a:ext cx="11801476" cy="419217"/>
            </a:xfrm>
            <a:prstGeom prst="roundRect">
              <a:avLst>
                <a:gd name="adj" fmla="val 40804"/>
              </a:avLst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8000">
                  <a:schemeClr val="tx1">
                    <a:lumMod val="50000"/>
                    <a:lumOff val="50000"/>
                  </a:schemeClr>
                </a:gs>
                <a:gs pos="83000">
                  <a:schemeClr val="tx1">
                    <a:lumMod val="75000"/>
                    <a:lumOff val="25000"/>
                  </a:schemeClr>
                </a:gs>
                <a:gs pos="100000">
                  <a:schemeClr val="tx1">
                    <a:lumMod val="75000"/>
                    <a:lumOff val="25000"/>
                  </a:schemeClr>
                </a:gs>
              </a:gsLst>
              <a:lin ang="0" scaled="1"/>
              <a:tileRect/>
            </a:gradFill>
            <a:ln w="381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grpSp>
          <p:nvGrpSpPr>
            <p:cNvPr id="7" name="群組 44">
              <a:extLst>
                <a:ext uri="{FF2B5EF4-FFF2-40B4-BE49-F238E27FC236}">
                  <a16:creationId xmlns:a16="http://schemas.microsoft.com/office/drawing/2014/main" id="{4BBD2854-1603-187A-C922-DF4106140DB8}"/>
                </a:ext>
              </a:extLst>
            </p:cNvPr>
            <p:cNvGrpSpPr/>
            <p:nvPr/>
          </p:nvGrpSpPr>
          <p:grpSpPr>
            <a:xfrm>
              <a:off x="600729" y="163202"/>
              <a:ext cx="1038687" cy="588751"/>
              <a:chOff x="1782913" y="2529000"/>
              <a:chExt cx="3121572" cy="1800001"/>
            </a:xfrm>
          </p:grpSpPr>
          <p:sp>
            <p:nvSpPr>
              <p:cNvPr id="9" name="圆角矩形 15">
                <a:extLst>
                  <a:ext uri="{FF2B5EF4-FFF2-40B4-BE49-F238E27FC236}">
                    <a16:creationId xmlns:a16="http://schemas.microsoft.com/office/drawing/2014/main" id="{7ACA31C9-71D0-9A39-8098-2A944E93EE3B}"/>
                  </a:ext>
                </a:extLst>
              </p:cNvPr>
              <p:cNvSpPr/>
              <p:nvPr/>
            </p:nvSpPr>
            <p:spPr>
              <a:xfrm rot="2700000">
                <a:off x="1857839" y="2529000"/>
                <a:ext cx="1800000" cy="1800001"/>
              </a:xfrm>
              <a:prstGeom prst="roundRect">
                <a:avLst/>
              </a:prstGeom>
              <a:solidFill>
                <a:srgbClr val="34B2E4"/>
              </a:solidFill>
              <a:ln>
                <a:noFill/>
              </a:ln>
              <a:effectLst>
                <a:outerShdw blurRad="127000" algn="ctr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  <a:cs typeface="+mn-ea"/>
                  <a:sym typeface="+mn-lt"/>
                </a:endParaRPr>
              </a:p>
            </p:txBody>
          </p:sp>
          <p:sp>
            <p:nvSpPr>
              <p:cNvPr id="10" name="圆角矩形 16">
                <a:extLst>
                  <a:ext uri="{FF2B5EF4-FFF2-40B4-BE49-F238E27FC236}">
                    <a16:creationId xmlns:a16="http://schemas.microsoft.com/office/drawing/2014/main" id="{485483A0-CFED-B508-6A22-7C9C4770D477}"/>
                  </a:ext>
                </a:extLst>
              </p:cNvPr>
              <p:cNvSpPr/>
              <p:nvPr/>
            </p:nvSpPr>
            <p:spPr>
              <a:xfrm rot="2700000">
                <a:off x="1782913" y="2529000"/>
                <a:ext cx="1800000" cy="1800000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190500" algn="ctr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  <a:cs typeface="+mn-ea"/>
                  <a:sym typeface="+mn-lt"/>
                </a:endParaRPr>
              </a:p>
            </p:txBody>
          </p:sp>
          <p:pic>
            <p:nvPicPr>
              <p:cNvPr id="11" name="圖片 49" descr="一張含有 文字, 輪子, 美工圖案, 齒輪 的圖片&#10;&#10;自動產生的描述">
                <a:extLst>
                  <a:ext uri="{FF2B5EF4-FFF2-40B4-BE49-F238E27FC236}">
                    <a16:creationId xmlns:a16="http://schemas.microsoft.com/office/drawing/2014/main" id="{BC4F7128-A604-DE6A-8A12-F024F005C9B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 cstate="print">
                <a:grayscl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3898"/>
              <a:stretch>
                <a:fillRect/>
              </a:stretch>
            </p:blipFill>
            <p:spPr>
              <a:xfrm rot="5400000">
                <a:off x="3709805" y="2875160"/>
                <a:ext cx="1281680" cy="110768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" name="矩形 50">
                <a:extLst>
                  <a:ext uri="{FF2B5EF4-FFF2-40B4-BE49-F238E27FC236}">
                    <a16:creationId xmlns:a16="http://schemas.microsoft.com/office/drawing/2014/main" id="{32A753EB-F610-F4D6-52F6-64EC7ACEAC8C}"/>
                  </a:ext>
                </a:extLst>
              </p:cNvPr>
              <p:cNvSpPr/>
              <p:nvPr/>
            </p:nvSpPr>
            <p:spPr>
              <a:xfrm>
                <a:off x="1831379" y="2819459"/>
                <a:ext cx="1703069" cy="13375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TW" sz="11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A4A4A4"/>
                    </a:solidFill>
                    <a:effectLst/>
                    <a:uLnTx/>
                    <a:uFillTx/>
                    <a:latin typeface="DengXian" panose="02010600030101010101" pitchFamily="2" charset="-122"/>
                    <a:ea typeface="DengXian" panose="02010600030101010101" pitchFamily="2" charset="-122"/>
                  </a:rPr>
                  <a:t>BG6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TW" sz="1100" b="1" dirty="0">
                    <a:solidFill>
                      <a:srgbClr val="A4A4A4"/>
                    </a:solidFill>
                    <a:latin typeface="DengXian" panose="02010600030101010101" pitchFamily="2" charset="-122"/>
                    <a:ea typeface="DengXian" panose="02010600030101010101" pitchFamily="2" charset="-122"/>
                  </a:rPr>
                  <a:t>PVN</a:t>
                </a:r>
                <a:endParaRPr kumimoji="0" lang="en-US" altLang="zh-TW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A4A4A4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</a:endParaRPr>
              </a:p>
            </p:txBody>
          </p:sp>
        </p:grpSp>
        <p:sp>
          <p:nvSpPr>
            <p:cNvPr id="8" name="文字方塊 45">
              <a:extLst>
                <a:ext uri="{FF2B5EF4-FFF2-40B4-BE49-F238E27FC236}">
                  <a16:creationId xmlns:a16="http://schemas.microsoft.com/office/drawing/2014/main" id="{63D96DF1-28D8-F4AD-5287-7F680B63FE2F}"/>
                </a:ext>
              </a:extLst>
            </p:cNvPr>
            <p:cNvSpPr txBox="1"/>
            <p:nvPr/>
          </p:nvSpPr>
          <p:spPr>
            <a:xfrm>
              <a:off x="1588997" y="203247"/>
              <a:ext cx="9986147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TW"/>
              </a:defPPr>
              <a:lvl1pPr defTabSz="837565">
                <a:defRPr sz="3200" b="1">
                  <a:solidFill>
                    <a:srgbClr val="2E9CC8"/>
                  </a:solidFill>
                  <a:latin typeface="DengXian" panose="02010600030101010101" pitchFamily="2" charset="-122"/>
                  <a:ea typeface="DengXian" panose="02010600030101010101" pitchFamily="2" charset="-122"/>
                </a:defRPr>
              </a:lvl1pPr>
            </a:lstStyle>
            <a:p>
              <a:r>
                <a:rPr lang="en-US" altLang="zh-TW" sz="2600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sym typeface="+mn-ea"/>
                </a:rPr>
                <a:t>2025 Q3 Work and Self-development plan achievement rate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895437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群組 18"/>
          <p:cNvGrpSpPr/>
          <p:nvPr/>
        </p:nvGrpSpPr>
        <p:grpSpPr>
          <a:xfrm>
            <a:off x="11145334" y="6021230"/>
            <a:ext cx="1058632" cy="775686"/>
            <a:chOff x="1633100" y="4132365"/>
            <a:chExt cx="419208" cy="307164"/>
          </a:xfrm>
        </p:grpSpPr>
        <p:sp>
          <p:nvSpPr>
            <p:cNvPr id="20" name="Oval 21"/>
            <p:cNvSpPr/>
            <p:nvPr/>
          </p:nvSpPr>
          <p:spPr>
            <a:xfrm rot="20111049">
              <a:off x="1633100" y="4132365"/>
              <a:ext cx="301450" cy="254502"/>
            </a:xfrm>
            <a:custGeom>
              <a:avLst/>
              <a:gdLst/>
              <a:ahLst/>
              <a:cxnLst/>
              <a:rect l="l" t="t" r="r" b="b"/>
              <a:pathLst>
                <a:path w="4088377" h="3321003">
                  <a:moveTo>
                    <a:pt x="1365628" y="1622218"/>
                  </a:moveTo>
                  <a:cubicBezTo>
                    <a:pt x="1121373" y="1556771"/>
                    <a:pt x="870309" y="1701722"/>
                    <a:pt x="804861" y="1945977"/>
                  </a:cubicBezTo>
                  <a:cubicBezTo>
                    <a:pt x="739413" y="2190232"/>
                    <a:pt x="884365" y="2441296"/>
                    <a:pt x="1128620" y="2506744"/>
                  </a:cubicBezTo>
                  <a:cubicBezTo>
                    <a:pt x="1372875" y="2572191"/>
                    <a:pt x="1623939" y="2427240"/>
                    <a:pt x="1689387" y="2182985"/>
                  </a:cubicBezTo>
                  <a:cubicBezTo>
                    <a:pt x="1754835" y="1938730"/>
                    <a:pt x="1609883" y="1687666"/>
                    <a:pt x="1365628" y="1622218"/>
                  </a:cubicBezTo>
                  <a:close/>
                  <a:moveTo>
                    <a:pt x="1447099" y="1318163"/>
                  </a:moveTo>
                  <a:cubicBezTo>
                    <a:pt x="1859279" y="1428606"/>
                    <a:pt x="2103885" y="1852277"/>
                    <a:pt x="1993442" y="2264456"/>
                  </a:cubicBezTo>
                  <a:cubicBezTo>
                    <a:pt x="1882999" y="2676636"/>
                    <a:pt x="1459328" y="2921242"/>
                    <a:pt x="1047149" y="2810799"/>
                  </a:cubicBezTo>
                  <a:cubicBezTo>
                    <a:pt x="634969" y="2700356"/>
                    <a:pt x="390363" y="2276685"/>
                    <a:pt x="500806" y="1864505"/>
                  </a:cubicBezTo>
                  <a:cubicBezTo>
                    <a:pt x="611249" y="1452326"/>
                    <a:pt x="1034920" y="1207720"/>
                    <a:pt x="1447099" y="1318163"/>
                  </a:cubicBezTo>
                  <a:close/>
                  <a:moveTo>
                    <a:pt x="1476725" y="1207597"/>
                  </a:moveTo>
                  <a:cubicBezTo>
                    <a:pt x="1003481" y="1080792"/>
                    <a:pt x="517045" y="1361635"/>
                    <a:pt x="390240" y="1834879"/>
                  </a:cubicBezTo>
                  <a:cubicBezTo>
                    <a:pt x="263435" y="2308124"/>
                    <a:pt x="544279" y="2794559"/>
                    <a:pt x="1017523" y="2921365"/>
                  </a:cubicBezTo>
                  <a:cubicBezTo>
                    <a:pt x="1490767" y="3048170"/>
                    <a:pt x="1977202" y="2767326"/>
                    <a:pt x="2104008" y="2294082"/>
                  </a:cubicBezTo>
                  <a:cubicBezTo>
                    <a:pt x="2230813" y="1820838"/>
                    <a:pt x="1949969" y="1334403"/>
                    <a:pt x="1476725" y="1207597"/>
                  </a:cubicBezTo>
                  <a:close/>
                  <a:moveTo>
                    <a:pt x="3290290" y="1590224"/>
                  </a:moveTo>
                  <a:cubicBezTo>
                    <a:pt x="3269727" y="1586016"/>
                    <a:pt x="3248437" y="1583806"/>
                    <a:pt x="3226630" y="1583806"/>
                  </a:cubicBezTo>
                  <a:cubicBezTo>
                    <a:pt x="3052179" y="1583806"/>
                    <a:pt x="2910758" y="1725227"/>
                    <a:pt x="2910758" y="1899678"/>
                  </a:cubicBezTo>
                  <a:cubicBezTo>
                    <a:pt x="2910758" y="2074130"/>
                    <a:pt x="3052179" y="2215551"/>
                    <a:pt x="3226630" y="2215550"/>
                  </a:cubicBezTo>
                  <a:cubicBezTo>
                    <a:pt x="3401082" y="2215551"/>
                    <a:pt x="3542503" y="2074130"/>
                    <a:pt x="3542502" y="1899678"/>
                  </a:cubicBezTo>
                  <a:cubicBezTo>
                    <a:pt x="3542503" y="1747033"/>
                    <a:pt x="3434228" y="1619677"/>
                    <a:pt x="3290290" y="1590224"/>
                  </a:cubicBezTo>
                  <a:close/>
                  <a:moveTo>
                    <a:pt x="3334055" y="1377473"/>
                  </a:moveTo>
                  <a:cubicBezTo>
                    <a:pt x="3576950" y="1427177"/>
                    <a:pt x="3759665" y="1642090"/>
                    <a:pt x="3759665" y="1899678"/>
                  </a:cubicBezTo>
                  <a:cubicBezTo>
                    <a:pt x="3759665" y="2194064"/>
                    <a:pt x="3521017" y="2432713"/>
                    <a:pt x="3226630" y="2432713"/>
                  </a:cubicBezTo>
                  <a:cubicBezTo>
                    <a:pt x="2932244" y="2432712"/>
                    <a:pt x="2693596" y="2194065"/>
                    <a:pt x="2693596" y="1899678"/>
                  </a:cubicBezTo>
                  <a:cubicBezTo>
                    <a:pt x="2693596" y="1605292"/>
                    <a:pt x="2932244" y="1366644"/>
                    <a:pt x="3226630" y="1366644"/>
                  </a:cubicBezTo>
                  <a:cubicBezTo>
                    <a:pt x="3263429" y="1366644"/>
                    <a:pt x="3299356" y="1370373"/>
                    <a:pt x="3334055" y="1377473"/>
                  </a:cubicBezTo>
                  <a:close/>
                  <a:moveTo>
                    <a:pt x="1391137" y="789478"/>
                  </a:moveTo>
                  <a:lnTo>
                    <a:pt x="1759910" y="888290"/>
                  </a:lnTo>
                  <a:lnTo>
                    <a:pt x="1754625" y="1202375"/>
                  </a:lnTo>
                  <a:lnTo>
                    <a:pt x="1744979" y="1199790"/>
                  </a:lnTo>
                  <a:cubicBezTo>
                    <a:pt x="1823578" y="1244024"/>
                    <a:pt x="1894617" y="1298265"/>
                    <a:pt x="1954704" y="1362586"/>
                  </a:cubicBezTo>
                  <a:lnTo>
                    <a:pt x="2234317" y="1293059"/>
                  </a:lnTo>
                  <a:lnTo>
                    <a:pt x="2413554" y="1630152"/>
                  </a:lnTo>
                  <a:lnTo>
                    <a:pt x="2214321" y="1809770"/>
                  </a:lnTo>
                  <a:cubicBezTo>
                    <a:pt x="2239296" y="1900740"/>
                    <a:pt x="2251067" y="1995997"/>
                    <a:pt x="2246841" y="2092825"/>
                  </a:cubicBezTo>
                  <a:lnTo>
                    <a:pt x="2495698" y="2230974"/>
                  </a:lnTo>
                  <a:lnTo>
                    <a:pt x="2396885" y="2599747"/>
                  </a:lnTo>
                  <a:lnTo>
                    <a:pt x="2094912" y="2594668"/>
                  </a:lnTo>
                  <a:cubicBezTo>
                    <a:pt x="2056732" y="2658461"/>
                    <a:pt x="2010475" y="2715996"/>
                    <a:pt x="1958644" y="2767359"/>
                  </a:cubicBezTo>
                  <a:lnTo>
                    <a:pt x="2057814" y="3026193"/>
                  </a:lnTo>
                  <a:lnTo>
                    <a:pt x="1745078" y="3245174"/>
                  </a:lnTo>
                  <a:lnTo>
                    <a:pt x="1507869" y="3039237"/>
                  </a:lnTo>
                  <a:lnTo>
                    <a:pt x="1536736" y="3019025"/>
                  </a:lnTo>
                  <a:cubicBezTo>
                    <a:pt x="1445878" y="3048429"/>
                    <a:pt x="1349798" y="3062567"/>
                    <a:pt x="1251837" y="3062021"/>
                  </a:cubicBezTo>
                  <a:lnTo>
                    <a:pt x="1108065" y="3321003"/>
                  </a:lnTo>
                  <a:lnTo>
                    <a:pt x="739291" y="3222191"/>
                  </a:lnTo>
                  <a:lnTo>
                    <a:pt x="744274" y="2926021"/>
                  </a:lnTo>
                  <a:cubicBezTo>
                    <a:pt x="666128" y="2881484"/>
                    <a:pt x="595548" y="2827017"/>
                    <a:pt x="535891" y="2762576"/>
                  </a:cubicBezTo>
                  <a:lnTo>
                    <a:pt x="540671" y="2772825"/>
                  </a:lnTo>
                  <a:lnTo>
                    <a:pt x="232276" y="2832568"/>
                  </a:lnTo>
                  <a:lnTo>
                    <a:pt x="70927" y="2486556"/>
                  </a:lnTo>
                  <a:lnTo>
                    <a:pt x="279495" y="2317444"/>
                  </a:lnTo>
                  <a:cubicBezTo>
                    <a:pt x="257233" y="2235849"/>
                    <a:pt x="245603" y="2150814"/>
                    <a:pt x="245586" y="2064274"/>
                  </a:cubicBezTo>
                  <a:lnTo>
                    <a:pt x="0" y="1927940"/>
                  </a:lnTo>
                  <a:lnTo>
                    <a:pt x="98812" y="1559167"/>
                  </a:lnTo>
                  <a:lnTo>
                    <a:pt x="380240" y="1563901"/>
                  </a:lnTo>
                  <a:cubicBezTo>
                    <a:pt x="418421" y="1496524"/>
                    <a:pt x="464524" y="1435092"/>
                    <a:pt x="516679" y="1380105"/>
                  </a:cubicBezTo>
                  <a:lnTo>
                    <a:pt x="422419" y="1089378"/>
                  </a:lnTo>
                  <a:lnTo>
                    <a:pt x="746189" y="887063"/>
                  </a:lnTo>
                  <a:lnTo>
                    <a:pt x="972292" y="1105134"/>
                  </a:lnTo>
                  <a:lnTo>
                    <a:pt x="970019" y="1106554"/>
                  </a:lnTo>
                  <a:cubicBezTo>
                    <a:pt x="1058903" y="1078586"/>
                    <a:pt x="1152743" y="1065659"/>
                    <a:pt x="1248316" y="1066709"/>
                  </a:cubicBezTo>
                  <a:lnTo>
                    <a:pt x="1238669" y="1064125"/>
                  </a:lnTo>
                  <a:close/>
                  <a:moveTo>
                    <a:pt x="3349970" y="1300109"/>
                  </a:moveTo>
                  <a:cubicBezTo>
                    <a:pt x="3310130" y="1291957"/>
                    <a:pt x="3268880" y="1287676"/>
                    <a:pt x="3226630" y="1287676"/>
                  </a:cubicBezTo>
                  <a:cubicBezTo>
                    <a:pt x="2888631" y="1287676"/>
                    <a:pt x="2614628" y="1561679"/>
                    <a:pt x="2614628" y="1899678"/>
                  </a:cubicBezTo>
                  <a:cubicBezTo>
                    <a:pt x="2614628" y="2237678"/>
                    <a:pt x="2888630" y="2511680"/>
                    <a:pt x="3226630" y="2511681"/>
                  </a:cubicBezTo>
                  <a:cubicBezTo>
                    <a:pt x="3564630" y="2511681"/>
                    <a:pt x="3838633" y="2237678"/>
                    <a:pt x="3838633" y="1899678"/>
                  </a:cubicBezTo>
                  <a:cubicBezTo>
                    <a:pt x="3838632" y="1603928"/>
                    <a:pt x="3628849" y="1357176"/>
                    <a:pt x="3349970" y="1300109"/>
                  </a:cubicBezTo>
                  <a:close/>
                  <a:moveTo>
                    <a:pt x="3358324" y="1024334"/>
                  </a:moveTo>
                  <a:lnTo>
                    <a:pt x="3410883" y="1234575"/>
                  </a:lnTo>
                  <a:lnTo>
                    <a:pt x="3403994" y="1234575"/>
                  </a:lnTo>
                  <a:cubicBezTo>
                    <a:pt x="3464268" y="1250018"/>
                    <a:pt x="3521292" y="1273478"/>
                    <a:pt x="3572818" y="1305612"/>
                  </a:cubicBezTo>
                  <a:lnTo>
                    <a:pt x="3746730" y="1209354"/>
                  </a:lnTo>
                  <a:lnTo>
                    <a:pt x="3926358" y="1401981"/>
                  </a:lnTo>
                  <a:lnTo>
                    <a:pt x="3825667" y="1557247"/>
                  </a:lnTo>
                  <a:cubicBezTo>
                    <a:pt x="3858552" y="1613408"/>
                    <a:pt x="3883404" y="1674784"/>
                    <a:pt x="3897877" y="1740062"/>
                  </a:cubicBezTo>
                  <a:lnTo>
                    <a:pt x="4088377" y="1787686"/>
                  </a:lnTo>
                  <a:lnTo>
                    <a:pt x="4088377" y="2051071"/>
                  </a:lnTo>
                  <a:lnTo>
                    <a:pt x="3886243" y="2101605"/>
                  </a:lnTo>
                  <a:cubicBezTo>
                    <a:pt x="3872191" y="2150933"/>
                    <a:pt x="3851639" y="2197531"/>
                    <a:pt x="3826272" y="2241013"/>
                  </a:cubicBezTo>
                  <a:lnTo>
                    <a:pt x="3938572" y="2395786"/>
                  </a:lnTo>
                  <a:lnTo>
                    <a:pt x="3769272" y="2597551"/>
                  </a:lnTo>
                  <a:lnTo>
                    <a:pt x="3574432" y="2502674"/>
                  </a:lnTo>
                  <a:lnTo>
                    <a:pt x="3590059" y="2484050"/>
                  </a:lnTo>
                  <a:cubicBezTo>
                    <a:pt x="3534764" y="2519868"/>
                    <a:pt x="3473263" y="2546445"/>
                    <a:pt x="3407886" y="2563572"/>
                  </a:cubicBezTo>
                  <a:lnTo>
                    <a:pt x="3358323" y="2761823"/>
                  </a:lnTo>
                  <a:lnTo>
                    <a:pt x="3094938" y="2761823"/>
                  </a:lnTo>
                  <a:lnTo>
                    <a:pt x="3045375" y="2563574"/>
                  </a:lnTo>
                  <a:cubicBezTo>
                    <a:pt x="2985349" y="2547848"/>
                    <a:pt x="2928591" y="2524155"/>
                    <a:pt x="2877330" y="2491865"/>
                  </a:cubicBezTo>
                  <a:lnTo>
                    <a:pt x="2882346" y="2497841"/>
                  </a:lnTo>
                  <a:lnTo>
                    <a:pt x="2687507" y="2592718"/>
                  </a:lnTo>
                  <a:lnTo>
                    <a:pt x="2518206" y="2390954"/>
                  </a:lnTo>
                  <a:lnTo>
                    <a:pt x="2626994" y="2241021"/>
                  </a:lnTo>
                  <a:cubicBezTo>
                    <a:pt x="2597591" y="2190623"/>
                    <a:pt x="2574657" y="2136035"/>
                    <a:pt x="2559194" y="2078370"/>
                  </a:cubicBezTo>
                  <a:lnTo>
                    <a:pt x="2371198" y="2031371"/>
                  </a:lnTo>
                  <a:lnTo>
                    <a:pt x="2371198" y="1767986"/>
                  </a:lnTo>
                  <a:lnTo>
                    <a:pt x="2559579" y="1720890"/>
                  </a:lnTo>
                  <a:cubicBezTo>
                    <a:pt x="2572992" y="1669175"/>
                    <a:pt x="2592745" y="1620006"/>
                    <a:pt x="2617681" y="1574051"/>
                  </a:cubicBezTo>
                  <a:lnTo>
                    <a:pt x="2502958" y="1397149"/>
                  </a:lnTo>
                  <a:lnTo>
                    <a:pt x="2682587" y="1204520"/>
                  </a:lnTo>
                  <a:lnTo>
                    <a:pt x="2872193" y="1309466"/>
                  </a:lnTo>
                  <a:lnTo>
                    <a:pt x="2870932" y="1310818"/>
                  </a:lnTo>
                  <a:cubicBezTo>
                    <a:pt x="2925169" y="1276310"/>
                    <a:pt x="2985393" y="1250941"/>
                    <a:pt x="3049268" y="1234575"/>
                  </a:cubicBezTo>
                  <a:lnTo>
                    <a:pt x="3042378" y="1234576"/>
                  </a:lnTo>
                  <a:lnTo>
                    <a:pt x="3094939" y="1024334"/>
                  </a:lnTo>
                  <a:close/>
                  <a:moveTo>
                    <a:pt x="2786480" y="402820"/>
                  </a:moveTo>
                  <a:cubicBezTo>
                    <a:pt x="2745900" y="389943"/>
                    <a:pt x="2701172" y="388627"/>
                    <a:pt x="2657264" y="401580"/>
                  </a:cubicBezTo>
                  <a:cubicBezTo>
                    <a:pt x="2540176" y="436121"/>
                    <a:pt x="2473258" y="559041"/>
                    <a:pt x="2507800" y="676128"/>
                  </a:cubicBezTo>
                  <a:cubicBezTo>
                    <a:pt x="2542340" y="793216"/>
                    <a:pt x="2665260" y="860133"/>
                    <a:pt x="2782348" y="825592"/>
                  </a:cubicBezTo>
                  <a:cubicBezTo>
                    <a:pt x="2899435" y="791051"/>
                    <a:pt x="2966353" y="668132"/>
                    <a:pt x="2931812" y="551045"/>
                  </a:cubicBezTo>
                  <a:cubicBezTo>
                    <a:pt x="2910223" y="477864"/>
                    <a:pt x="2854113" y="424282"/>
                    <a:pt x="2786480" y="402820"/>
                  </a:cubicBezTo>
                  <a:close/>
                  <a:moveTo>
                    <a:pt x="2932202" y="47278"/>
                  </a:moveTo>
                  <a:lnTo>
                    <a:pt x="3090904" y="140999"/>
                  </a:lnTo>
                  <a:lnTo>
                    <a:pt x="3054065" y="265147"/>
                  </a:lnTo>
                  <a:cubicBezTo>
                    <a:pt x="3087256" y="296329"/>
                    <a:pt x="3116089" y="332603"/>
                    <a:pt x="3138727" y="373550"/>
                  </a:cubicBezTo>
                  <a:lnTo>
                    <a:pt x="3276016" y="367796"/>
                  </a:lnTo>
                  <a:lnTo>
                    <a:pt x="3328165" y="544574"/>
                  </a:lnTo>
                  <a:lnTo>
                    <a:pt x="3202503" y="618514"/>
                  </a:lnTo>
                  <a:cubicBezTo>
                    <a:pt x="3202838" y="654403"/>
                    <a:pt x="3198271" y="689748"/>
                    <a:pt x="3189855" y="723955"/>
                  </a:cubicBezTo>
                  <a:lnTo>
                    <a:pt x="3295873" y="805599"/>
                  </a:lnTo>
                  <a:lnTo>
                    <a:pt x="3222192" y="974540"/>
                  </a:lnTo>
                  <a:lnTo>
                    <a:pt x="3072634" y="949439"/>
                  </a:lnTo>
                  <a:lnTo>
                    <a:pt x="3079435" y="933845"/>
                  </a:lnTo>
                  <a:cubicBezTo>
                    <a:pt x="3049413" y="968833"/>
                    <a:pt x="3013398" y="998848"/>
                    <a:pt x="2972910" y="1023288"/>
                  </a:cubicBezTo>
                  <a:lnTo>
                    <a:pt x="2978897" y="1166163"/>
                  </a:lnTo>
                  <a:lnTo>
                    <a:pt x="2802119" y="1218312"/>
                  </a:lnTo>
                  <a:lnTo>
                    <a:pt x="2729602" y="1095065"/>
                  </a:lnTo>
                  <a:cubicBezTo>
                    <a:pt x="2686199" y="1096396"/>
                    <a:pt x="2643414" y="1091732"/>
                    <a:pt x="2602615" y="1080209"/>
                  </a:cubicBezTo>
                  <a:lnTo>
                    <a:pt x="2607165" y="1083226"/>
                  </a:lnTo>
                  <a:lnTo>
                    <a:pt x="2495179" y="1185484"/>
                  </a:lnTo>
                  <a:lnTo>
                    <a:pt x="2341599" y="1083585"/>
                  </a:lnTo>
                  <a:lnTo>
                    <a:pt x="2384929" y="961414"/>
                  </a:lnTo>
                  <a:cubicBezTo>
                    <a:pt x="2355215" y="933409"/>
                    <a:pt x="2329015" y="901312"/>
                    <a:pt x="2307218" y="865670"/>
                  </a:cubicBezTo>
                  <a:lnTo>
                    <a:pt x="2171734" y="871348"/>
                  </a:lnTo>
                  <a:lnTo>
                    <a:pt x="2119584" y="694571"/>
                  </a:lnTo>
                  <a:lnTo>
                    <a:pt x="2236697" y="625662"/>
                  </a:lnTo>
                  <a:cubicBezTo>
                    <a:pt x="2235459" y="588297"/>
                    <a:pt x="2238982" y="551385"/>
                    <a:pt x="2246620" y="515603"/>
                  </a:cubicBezTo>
                  <a:lnTo>
                    <a:pt x="2134594" y="419585"/>
                  </a:lnTo>
                  <a:lnTo>
                    <a:pt x="2217016" y="254732"/>
                  </a:lnTo>
                  <a:lnTo>
                    <a:pt x="2365055" y="287627"/>
                  </a:lnTo>
                  <a:lnTo>
                    <a:pt x="2364476" y="288784"/>
                  </a:lnTo>
                  <a:cubicBezTo>
                    <a:pt x="2394046" y="254885"/>
                    <a:pt x="2429444" y="225933"/>
                    <a:pt x="2469075" y="202302"/>
                  </a:cubicBezTo>
                  <a:lnTo>
                    <a:pt x="2464452" y="203666"/>
                  </a:lnTo>
                  <a:lnTo>
                    <a:pt x="2458102" y="52150"/>
                  </a:lnTo>
                  <a:lnTo>
                    <a:pt x="2634880" y="0"/>
                  </a:lnTo>
                  <a:lnTo>
                    <a:pt x="2711784" y="130703"/>
                  </a:lnTo>
                  <a:lnTo>
                    <a:pt x="2707159" y="132067"/>
                  </a:lnTo>
                  <a:cubicBezTo>
                    <a:pt x="2750672" y="130497"/>
                    <a:pt x="2793590" y="134953"/>
                    <a:pt x="2834535" y="146319"/>
                  </a:cubicBezTo>
                  <a:close/>
                </a:path>
              </a:pathLst>
            </a:custGeom>
            <a:solidFill>
              <a:schemeClr val="bg1"/>
            </a:solidFill>
            <a:ln w="3175">
              <a:solidFill>
                <a:schemeClr val="bg2">
                  <a:lumMod val="75000"/>
                </a:schemeClr>
              </a:solidFill>
            </a:ln>
            <a:effectLst>
              <a:outerShdw blurRad="50800" dist="38100" dir="8100000" sx="97000" sy="97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ko-KR" altLang="en-US" sz="2700">
                <a:solidFill>
                  <a:schemeClr val="bg1"/>
                </a:solidFill>
              </a:endParaRPr>
            </a:p>
          </p:txBody>
        </p:sp>
        <p:grpSp>
          <p:nvGrpSpPr>
            <p:cNvPr id="21" name="群組 20"/>
            <p:cNvGrpSpPr/>
            <p:nvPr/>
          </p:nvGrpSpPr>
          <p:grpSpPr>
            <a:xfrm>
              <a:off x="1727685" y="4270681"/>
              <a:ext cx="324623" cy="168848"/>
              <a:chOff x="2114400" y="4249726"/>
              <a:chExt cx="324623" cy="168848"/>
            </a:xfrm>
          </p:grpSpPr>
          <p:sp>
            <p:nvSpPr>
              <p:cNvPr id="22" name="文字方塊 21"/>
              <p:cNvSpPr txBox="1"/>
              <p:nvPr/>
            </p:nvSpPr>
            <p:spPr>
              <a:xfrm>
                <a:off x="2114400" y="4249726"/>
                <a:ext cx="280467" cy="1462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b="1" dirty="0">
                    <a:ln w="3175">
                      <a:solidFill>
                        <a:schemeClr val="bg2">
                          <a:lumMod val="5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masis MT Pro Black" panose="020F0502020204030204" pitchFamily="18" charset="0"/>
                    <a:cs typeface="Arial" panose="020B0604020202020204" pitchFamily="34" charset="0"/>
                  </a:rPr>
                  <a:t>FME</a:t>
                </a:r>
                <a:endParaRPr lang="zh-TW" altLang="en-US" b="1" dirty="0">
                  <a:ln w="3175">
                    <a:solidFill>
                      <a:schemeClr val="bg2">
                        <a:lumMod val="50000"/>
                      </a:schemeClr>
                    </a:solidFill>
                  </a:ln>
                  <a:solidFill>
                    <a:schemeClr val="bg1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  <a:latin typeface="Amasis MT Pro Black" panose="020F05020202040302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3" name="文字方塊 22"/>
              <p:cNvSpPr txBox="1"/>
              <p:nvPr/>
            </p:nvSpPr>
            <p:spPr>
              <a:xfrm>
                <a:off x="2131213" y="4333260"/>
                <a:ext cx="307810" cy="853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800" b="1" dirty="0">
                    <a:ln w="3175">
                      <a:noFill/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BG6</a:t>
                </a:r>
                <a:r>
                  <a:rPr lang="zh-TW" altLang="en-US" sz="800" b="1" dirty="0">
                    <a:ln w="3175">
                      <a:noFill/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TW" sz="800" b="1" dirty="0">
                    <a:ln w="0">
                      <a:noFill/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PVN</a:t>
                </a:r>
                <a:endParaRPr lang="zh-TW" altLang="en-US" sz="800" b="1" dirty="0">
                  <a:ln w="0">
                    <a:noFill/>
                  </a:ln>
                  <a:solidFill>
                    <a:schemeClr val="bg1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9" name="群組 8"/>
          <p:cNvGrpSpPr/>
          <p:nvPr/>
        </p:nvGrpSpPr>
        <p:grpSpPr>
          <a:xfrm>
            <a:off x="195262" y="178409"/>
            <a:ext cx="11801476" cy="588751"/>
            <a:chOff x="195262" y="163202"/>
            <a:chExt cx="11801476" cy="588751"/>
          </a:xfrm>
        </p:grpSpPr>
        <p:sp>
          <p:nvSpPr>
            <p:cNvPr id="10" name="矩形: 圓角 9"/>
            <p:cNvSpPr/>
            <p:nvPr/>
          </p:nvSpPr>
          <p:spPr>
            <a:xfrm>
              <a:off x="195262" y="247970"/>
              <a:ext cx="11801476" cy="419217"/>
            </a:xfrm>
            <a:prstGeom prst="roundRect">
              <a:avLst>
                <a:gd name="adj" fmla="val 40804"/>
              </a:avLst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8000">
                  <a:schemeClr val="tx1">
                    <a:lumMod val="50000"/>
                    <a:lumOff val="50000"/>
                  </a:schemeClr>
                </a:gs>
                <a:gs pos="83000">
                  <a:schemeClr val="tx1">
                    <a:lumMod val="75000"/>
                    <a:lumOff val="25000"/>
                  </a:schemeClr>
                </a:gs>
                <a:gs pos="100000">
                  <a:schemeClr val="tx1">
                    <a:lumMod val="75000"/>
                    <a:lumOff val="25000"/>
                  </a:schemeClr>
                </a:gs>
              </a:gsLst>
              <a:lin ang="0" scaled="1"/>
              <a:tileRect/>
            </a:gradFill>
            <a:ln w="381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grpSp>
          <p:nvGrpSpPr>
            <p:cNvPr id="11" name="群組 10"/>
            <p:cNvGrpSpPr/>
            <p:nvPr/>
          </p:nvGrpSpPr>
          <p:grpSpPr>
            <a:xfrm>
              <a:off x="600729" y="163202"/>
              <a:ext cx="1038687" cy="588751"/>
              <a:chOff x="1782913" y="2529000"/>
              <a:chExt cx="3121572" cy="1800001"/>
            </a:xfrm>
          </p:grpSpPr>
          <p:sp>
            <p:nvSpPr>
              <p:cNvPr id="13" name="圆角矩形 15"/>
              <p:cNvSpPr/>
              <p:nvPr/>
            </p:nvSpPr>
            <p:spPr>
              <a:xfrm rot="2700000">
                <a:off x="1857839" y="2529000"/>
                <a:ext cx="1800000" cy="1800001"/>
              </a:xfrm>
              <a:prstGeom prst="roundRect">
                <a:avLst/>
              </a:prstGeom>
              <a:solidFill>
                <a:srgbClr val="34B2E4"/>
              </a:solidFill>
              <a:ln>
                <a:noFill/>
              </a:ln>
              <a:effectLst>
                <a:outerShdw blurRad="127000" algn="ctr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  <a:cs typeface="+mn-ea"/>
                  <a:sym typeface="+mn-lt"/>
                </a:endParaRPr>
              </a:p>
            </p:txBody>
          </p:sp>
          <p:sp>
            <p:nvSpPr>
              <p:cNvPr id="14" name="圆角矩形 16"/>
              <p:cNvSpPr/>
              <p:nvPr/>
            </p:nvSpPr>
            <p:spPr>
              <a:xfrm rot="2700000">
                <a:off x="1782913" y="2529000"/>
                <a:ext cx="1800000" cy="1800000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190500" algn="ctr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  <a:cs typeface="+mn-ea"/>
                  <a:sym typeface="+mn-lt"/>
                </a:endParaRPr>
              </a:p>
            </p:txBody>
          </p:sp>
          <p:pic>
            <p:nvPicPr>
              <p:cNvPr id="15" name="圖片 14" descr="一張含有 文字, 輪子, 美工圖案, 齒輪 的圖片&#10;&#10;自動產生的描述"/>
              <p:cNvPicPr>
                <a:picLocks noChangeAspect="1"/>
              </p:cNvPicPr>
              <p:nvPr/>
            </p:nvPicPr>
            <p:blipFill rotWithShape="1">
              <a:blip r:embed="rId2" cstate="print">
                <a:grayscl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3898"/>
              <a:stretch>
                <a:fillRect/>
              </a:stretch>
            </p:blipFill>
            <p:spPr>
              <a:xfrm rot="5400000">
                <a:off x="3709805" y="2875160"/>
                <a:ext cx="1281680" cy="110768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6" name="矩形 15"/>
              <p:cNvSpPr/>
              <p:nvPr/>
            </p:nvSpPr>
            <p:spPr>
              <a:xfrm>
                <a:off x="1831379" y="2819459"/>
                <a:ext cx="1703069" cy="13375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TW" sz="11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A4A4A4"/>
                    </a:solidFill>
                    <a:effectLst/>
                    <a:uLnTx/>
                    <a:uFillTx/>
                    <a:latin typeface="DengXian" panose="02010600030101010101" pitchFamily="2" charset="-122"/>
                    <a:ea typeface="DengXian" panose="02010600030101010101" pitchFamily="2" charset="-122"/>
                  </a:rPr>
                  <a:t>BG6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TW" sz="1100" b="1" dirty="0">
                    <a:solidFill>
                      <a:srgbClr val="A4A4A4"/>
                    </a:solidFill>
                    <a:latin typeface="DengXian" panose="02010600030101010101" pitchFamily="2" charset="-122"/>
                    <a:ea typeface="DengXian" panose="02010600030101010101" pitchFamily="2" charset="-122"/>
                  </a:rPr>
                  <a:t>PVN</a:t>
                </a:r>
                <a:endParaRPr kumimoji="0" lang="en-US" altLang="zh-TW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A4A4A4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</a:endParaRPr>
              </a:p>
            </p:txBody>
          </p:sp>
        </p:grpSp>
        <p:sp>
          <p:nvSpPr>
            <p:cNvPr id="12" name="文字方塊 11"/>
            <p:cNvSpPr txBox="1"/>
            <p:nvPr/>
          </p:nvSpPr>
          <p:spPr>
            <a:xfrm>
              <a:off x="1605137" y="211365"/>
              <a:ext cx="847964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TW"/>
              </a:defPPr>
              <a:lvl1pPr defTabSz="837565">
                <a:defRPr sz="3200" b="1">
                  <a:solidFill>
                    <a:srgbClr val="2E9CC8"/>
                  </a:solidFill>
                  <a:latin typeface="DengXian" panose="02010600030101010101" pitchFamily="2" charset="-122"/>
                  <a:ea typeface="DengXian" panose="02010600030101010101" pitchFamily="2" charset="-122"/>
                </a:defRPr>
              </a:lvl1pPr>
            </a:lstStyle>
            <a:p>
              <a:r>
                <a:rPr lang="en-US" sz="2800" dirty="0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PVN Future work and </a:t>
              </a:r>
              <a:r>
                <a:rPr lang="en-US" sz="2800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Self-Development Plans</a:t>
              </a:r>
              <a:endParaRPr lang="en-US" altLang="zh-TW" sz="28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endParaRPr>
            </a:p>
          </p:txBody>
        </p:sp>
      </p:grpSp>
      <p:graphicFrame>
        <p:nvGraphicFramePr>
          <p:cNvPr id="17" name="表格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1032157"/>
              </p:ext>
            </p:extLst>
          </p:nvPr>
        </p:nvGraphicFramePr>
        <p:xfrm>
          <a:off x="616856" y="1372068"/>
          <a:ext cx="11077303" cy="5058652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9036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736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7788">
                <a:tc>
                  <a:txBody>
                    <a:bodyPr/>
                    <a:lstStyle/>
                    <a:p>
                      <a:pPr algn="l"/>
                      <a:r>
                        <a:rPr lang="en-US" sz="13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Time</a:t>
                      </a:r>
                      <a:endParaRPr lang="zh-TW" altLang="en-US" sz="13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rgbClr val="BA996E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Future work </a:t>
                      </a:r>
                      <a:endParaRPr lang="en-US" sz="1300" b="1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rgbClr val="BA996E">
                        <a:alpha val="7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7788">
                <a:tc rowSpan="9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13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2026</a:t>
                      </a:r>
                      <a:r>
                        <a:rPr lang="zh-TW" altLang="en-US" sz="13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TW" sz="13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Q2~</a:t>
                      </a:r>
                      <a:endParaRPr lang="zh-TW" altLang="en-US" sz="1300" kern="1200" dirty="0" smtClean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algn="ctr"/>
                      <a:endParaRPr lang="zh-TW" altLang="en-US" sz="13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 </a:t>
                      </a:r>
                      <a:r>
                        <a:rPr lang="en-US" sz="1300" b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Continue</a:t>
                      </a:r>
                      <a:r>
                        <a:rPr lang="en-US" sz="1300" b="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flow-up AOI </a:t>
                      </a:r>
                      <a:r>
                        <a:rPr lang="en-US" sz="13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device</a:t>
                      </a:r>
                      <a:r>
                        <a:rPr lang="en-US" sz="1300" b="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on production line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  <a:alpha val="7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856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 Improve the performance of AOI device (</a:t>
                      </a:r>
                      <a:r>
                        <a:rPr lang="en-US" altLang="zh-TW" sz="13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above 95%)</a:t>
                      </a:r>
                      <a:endParaRPr lang="en-US" sz="13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alpha val="7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778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>
                        <a:lumMod val="85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 Report errors on the device and find solutions</a:t>
                      </a:r>
                      <a:endParaRPr lang="en-US" sz="13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  <a:alpha val="7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778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300" kern="1200" dirty="0" smtClean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4.</a:t>
                      </a:r>
                      <a:r>
                        <a:rPr lang="en-US" altLang="zh-TW" sz="1300" kern="1200" dirty="0" smtClean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Improve coding skills to debug, optimize the AOI program</a:t>
                      </a:r>
                      <a:endParaRPr lang="en-US" sz="13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  <a:alpha val="7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1281465"/>
                  </a:ext>
                </a:extLst>
              </a:tr>
              <a:tr h="50778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Work and Self-Development Plans </a:t>
                      </a:r>
                      <a:endParaRPr lang="zh-TW" altLang="en-US" sz="1300" dirty="0"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  <a:alpha val="7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778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solidFill>
                      <a:schemeClr val="bg1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TW" sz="1300" kern="1200" dirty="0" smtClean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1. Improve coding skills : JavaScript, </a:t>
                      </a:r>
                      <a:r>
                        <a:rPr lang="en-US" altLang="zh-TW" sz="1300" kern="1200" dirty="0" err="1" smtClean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ChatGPT</a:t>
                      </a:r>
                      <a:r>
                        <a:rPr lang="en-US" altLang="zh-TW" sz="1300" kern="1200" dirty="0" smtClean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AI, C/C#….</a:t>
                      </a:r>
                      <a:endParaRPr lang="zh-TW" altLang="en-US" sz="13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  <a:alpha val="7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778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TW" sz="1300" kern="1200" dirty="0" smtClean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2. Continue learning Chinese (HK2, HK3) for improve communication skills .</a:t>
                      </a:r>
                      <a:endParaRPr lang="zh-TW" altLang="en-US" sz="13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alpha val="7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778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>
                        <a:lumMod val="85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TW" sz="1300" kern="1200" dirty="0" smtClean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3. Working more efficiency with team member</a:t>
                      </a:r>
                      <a:endParaRPr lang="zh-TW" altLang="en-US" sz="13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  <a:alpha val="7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778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300" kern="1200" dirty="0" smtClean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4. Improve English communication skills to improve work efficiency. </a:t>
                      </a:r>
                      <a:endParaRPr lang="zh-TW" altLang="en-US" sz="1300" kern="1200" dirty="0" smtClean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alpha val="7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0551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044919F4-AB79-233A-6E39-5309E5C3DF0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Blur radius="3"/>
                      </a14:imgEffect>
                      <a14:imgEffect>
                        <a14:brightnessContrast contrast="-6000"/>
                      </a14:imgEffect>
                      <a14:imgEffect>
                        <a14:colorTemperature colorTemp="62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38100">
            <a:noFill/>
          </a:ln>
          <a:effectLst>
            <a:softEdge rad="31750"/>
          </a:effectLst>
          <a:scene3d>
            <a:camera prst="orthographicFront"/>
            <a:lightRig rig="threePt" dir="t"/>
          </a:scene3d>
          <a:sp3d contourW="57150">
            <a:contourClr>
              <a:schemeClr val="accent3">
                <a:lumMod val="50000"/>
              </a:schemeClr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ysClr val="windowText" lastClr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手繪多邊形: 圖案 4">
            <a:extLst>
              <a:ext uri="{FF2B5EF4-FFF2-40B4-BE49-F238E27FC236}">
                <a16:creationId xmlns:a16="http://schemas.microsoft.com/office/drawing/2014/main" id="{6155007F-1855-1E11-6F57-2582E0B8F689}"/>
              </a:ext>
            </a:extLst>
          </p:cNvPr>
          <p:cNvSpPr/>
          <p:nvPr/>
        </p:nvSpPr>
        <p:spPr>
          <a:xfrm>
            <a:off x="7351059" y="0"/>
            <a:ext cx="4840940" cy="6858000"/>
          </a:xfrm>
          <a:custGeom>
            <a:avLst/>
            <a:gdLst>
              <a:gd name="connsiteX0" fmla="*/ 4117886 w 5593080"/>
              <a:gd name="connsiteY0" fmla="*/ 0 h 6858000"/>
              <a:gd name="connsiteX1" fmla="*/ 5593080 w 5593080"/>
              <a:gd name="connsiteY1" fmla="*/ 0 h 6858000"/>
              <a:gd name="connsiteX2" fmla="*/ 5593080 w 5593080"/>
              <a:gd name="connsiteY2" fmla="*/ 6091430 h 6858000"/>
              <a:gd name="connsiteX3" fmla="*/ 5132793 w 5593080"/>
              <a:gd name="connsiteY3" fmla="*/ 6858000 h 6858000"/>
              <a:gd name="connsiteX4" fmla="*/ 0 w 5593080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93080" h="6858000">
                <a:moveTo>
                  <a:pt x="4117886" y="0"/>
                </a:moveTo>
                <a:lnTo>
                  <a:pt x="5593080" y="0"/>
                </a:lnTo>
                <a:lnTo>
                  <a:pt x="5593080" y="6091430"/>
                </a:lnTo>
                <a:lnTo>
                  <a:pt x="5132793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4">
              <a:alphaModFix amt="70000"/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793771E5-B654-71D9-E558-5F572104EAEB}"/>
              </a:ext>
            </a:extLst>
          </p:cNvPr>
          <p:cNvSpPr txBox="1"/>
          <p:nvPr/>
        </p:nvSpPr>
        <p:spPr>
          <a:xfrm>
            <a:off x="7475369" y="5711409"/>
            <a:ext cx="4592320" cy="1015663"/>
          </a:xfrm>
          <a:prstGeom prst="rect">
            <a:avLst/>
          </a:prstGeom>
          <a:noFill/>
          <a:ln w="3175"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TW" sz="6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Black" panose="020B0A04020102020204" pitchFamily="34" charset="0"/>
                <a:ea typeface="DengXian" panose="02010600030101010101" pitchFamily="2" charset="-122"/>
              </a:rPr>
              <a:t>Thank</a:t>
            </a:r>
            <a:r>
              <a:rPr kumimoji="0" lang="en-US" altLang="zh-TW" sz="5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Black" panose="020B0A04020102020204" pitchFamily="34" charset="0"/>
                <a:ea typeface="DengXian" panose="02010600030101010101" pitchFamily="2" charset="-122"/>
              </a:rPr>
              <a:t> You</a:t>
            </a:r>
            <a:endParaRPr kumimoji="0" lang="zh-TW" altLang="en-US" sz="5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 Black" panose="020B0A04020102020204" pitchFamily="34" charset="0"/>
              <a:ea typeface="DengXia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659950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FFF00"/>
        </a:solidFill>
        <a:ln w="38100">
          <a:noFill/>
        </a:ln>
      </a:spPr>
      <a:bodyPr rtlCol="0" anchor="ctr"/>
      <a:lstStyle>
        <a:defPPr>
          <a:defRPr dirty="0">
            <a:solidFill>
              <a:sysClr val="windowText" lastClr="000000"/>
            </a:solidFill>
            <a:latin typeface="微軟正黑體" panose="020B0604030504040204" pitchFamily="34" charset="-120"/>
            <a:ea typeface="微軟正黑體" panose="020B0604030504040204" pitchFamily="34" charset="-12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ln w="3175">
          <a:solidFill>
            <a:schemeClr val="bg1">
              <a:lumMod val="50000"/>
            </a:schemeClr>
          </a:solidFill>
        </a:ln>
      </a:spPr>
      <a:bodyPr wrap="square" rtlCol="0">
        <a:spAutoFit/>
      </a:bodyPr>
      <a:lstStyle>
        <a:defPPr marL="0" marR="0" indent="0" algn="ctr" defTabSz="914400" rtl="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400" b="0" i="0" u="none" strike="noStrike" kern="1200" cap="none" spc="0" normalizeH="0" baseline="0" noProof="0" dirty="0">
            <a:ln>
              <a:noFill/>
            </a:ln>
            <a:solidFill>
              <a:schemeClr val="bg1">
                <a:lumMod val="50000"/>
              </a:schemeClr>
            </a:solidFill>
            <a:effectLst/>
            <a:uLnTx/>
            <a:uFillTx/>
            <a:latin typeface="DengXian" panose="02010600030101010101" pitchFamily="2" charset="-122"/>
            <a:ea typeface="DengXian" panose="02010600030101010101" pitchFamily="2" charset="-122"/>
          </a:defRPr>
        </a:defPPr>
      </a:lstStyle>
      <a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1398</TotalTime>
  <Words>785</Words>
  <Application>Microsoft Office PowerPoint</Application>
  <PresentationFormat>Widescreen</PresentationFormat>
  <Paragraphs>137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7" baseType="lpstr">
      <vt:lpstr>Amasis MT Pro Black</vt:lpstr>
      <vt:lpstr>DengXian</vt:lpstr>
      <vt:lpstr>DengXian</vt:lpstr>
      <vt:lpstr>맑은 고딕</vt:lpstr>
      <vt:lpstr>Microsoft JhengHei</vt:lpstr>
      <vt:lpstr>Microsoft JhengHei</vt:lpstr>
      <vt:lpstr>新細明體</vt:lpstr>
      <vt:lpstr>Arial</vt:lpstr>
      <vt:lpstr>Arial Black</vt:lpstr>
      <vt:lpstr>Calibri</vt:lpstr>
      <vt:lpstr>Calibri Light</vt:lpstr>
      <vt:lpstr>Office 佈景主題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2.New model training report</vt:lpstr>
      <vt:lpstr>3. AOI 4K Panasonic Carton change position</vt:lpstr>
      <vt:lpstr>3. AOI 4K Panasonic Carton change position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Andy; Andy Su(蘇孝維_PVN)</dc:creator>
  <cp:lastModifiedBy>Ethan Nguyen(NGUYỄN TRUNG NHÂN_PVN)</cp:lastModifiedBy>
  <cp:revision>794</cp:revision>
  <dcterms:created xsi:type="dcterms:W3CDTF">2021-03-09T11:56:00Z</dcterms:created>
  <dcterms:modified xsi:type="dcterms:W3CDTF">2026-03-14T12:58:48Z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1033-11.8.2.8426</vt:lpwstr>
  </property>
  <property fmtid="{D5CDD505-2E9C-101B-9397-08002B2CF9AE}" pid="3" name="ContentTypeId">
    <vt:lpwstr>0x010100991A3A7B58DE6F478F051059C55FE93E</vt:lpwstr>
  </property>
</Properties>
</file>